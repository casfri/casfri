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C561"/>
    <a:srgbClr val="F3E0AB"/>
    <a:srgbClr val="83971D"/>
    <a:srgbClr val="BCD830"/>
    <a:srgbClr val="E2B633"/>
    <a:srgbClr val="93C571"/>
    <a:srgbClr val="FF7C80"/>
    <a:srgbClr val="C062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>
        <p:scale>
          <a:sx n="75" d="100"/>
          <a:sy n="75" d="100"/>
        </p:scale>
        <p:origin x="198" y="-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4C7D71-3821-4A09-A120-9370EA6554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CA"/>
              <a:t>Modifier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9C92185-B8A3-4AA3-87FC-2545236915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/>
              <a:t>Modifier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FF8E03-FA5A-4E30-80A1-4FB64D0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64DAA-2D40-48FF-BEF7-FF13A315CEAF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9303BBF-F456-4419-8C8D-BF96639D3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717ED22-B23F-4AC6-A6B9-E4EF736B4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C9F9E-F8D8-4256-A8C6-FCC6807A1668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2749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2C5F47-45E5-46A4-9F6E-18576757E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88A7E5-6416-4D31-8B22-11C7266F5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1069C29-A7A1-4027-9BD1-79A4CB1BC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64DAA-2D40-48FF-BEF7-FF13A315CEAF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B66591-8AD8-4E9E-8B29-552693F6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D876624-A3E9-456D-B96A-DB61AD211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C9F9E-F8D8-4256-A8C6-FCC6807A1668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8395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8FB983-32DE-4868-903E-FE254C9C2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CA"/>
              <a:t>Modifier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9FAB967-00BC-472C-8236-A6927DE9A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52DD072-E5E0-442D-B77C-36F1F24B1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64DAA-2D40-48FF-BEF7-FF13A315CEAF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2C2A9C8-1940-4D57-B590-C921234AF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85F31F4-BF33-4A0E-9CA7-4ECFC9E5B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C9F9E-F8D8-4256-A8C6-FCC6807A1668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0958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A2FFA3-4C86-447E-95CB-15C1CD3AD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3164B6-C713-4310-A298-6F3EA91729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034C75B-7302-427B-909C-A14F8B0548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5B8AA04-E487-444D-BA78-846692BD7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64DAA-2D40-48FF-BEF7-FF13A315CEAF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61D839D-563E-46EB-933E-B19D07827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188F23F-A42B-4335-80BD-CD612219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C9F9E-F8D8-4256-A8C6-FCC6807A1668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6283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7E3921-1C58-41D2-86AD-09D609FCE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CA"/>
              <a:t>Modifier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F57553E-6F95-480B-A5B3-BFF157034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ED8921B-812C-4D64-9320-E8E66D7A2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5FF3689-5A53-4E30-8142-36DD490C5E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2FF49DD-56DA-4C63-95DD-53AC854AEF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EF19087-E815-4377-92A7-81BD330BB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64DAA-2D40-48FF-BEF7-FF13A315CEAF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C869B67-2B5B-482F-8AB9-6E387B1D8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3D943EF-6EEC-4A42-8E49-236A3350A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C9F9E-F8D8-4256-A8C6-FCC6807A1668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5769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9B4899-39A8-4FEB-94BA-CA579F674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43E7056-01E3-4299-A2A7-EE8C3AF11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64DAA-2D40-48FF-BEF7-FF13A315CEAF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371E22A-97D4-4087-B9D8-F53B142A5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8D2D913-1781-4D4E-A30A-3227F371B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C9F9E-F8D8-4256-A8C6-FCC6807A1668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062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5292672-7A58-4EA7-B8E0-2A0DD10E6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64DAA-2D40-48FF-BEF7-FF13A315CEAF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7745A89-54D5-4053-8B89-483BFC97A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ED768E2-96D5-4182-9E87-C9C10EBA3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C9F9E-F8D8-4256-A8C6-FCC6807A1668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3228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6B7432-3C7E-495F-8DF3-01DB196CF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C60D30-BC7C-4A8D-B68F-272663155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0B62350-30E3-407A-9D6F-537F8A8C97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59586EF-EA40-41F0-9184-46CC6DAB6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64DAA-2D40-48FF-BEF7-FF13A315CEAF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4414217-CAF5-4360-B37A-B065552C5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35C8122-403D-4336-B5CA-3EE0D6241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C9F9E-F8D8-4256-A8C6-FCC6807A1668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128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ED402C-2C60-4176-BDD7-B18F98D70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176E28E-8987-427E-B4A7-4A5F39C098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DD45632-72F1-4F0B-8B27-96663F3509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AB7AD2D-E179-4454-8866-A9F4F5AAC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64DAA-2D40-48FF-BEF7-FF13A315CEAF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F39CFEC-971A-48CA-A704-AB7A04634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F842C04-656B-4554-B16C-5D0F4EED3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C9F9E-F8D8-4256-A8C6-FCC6807A1668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9594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CB9DBF-EB05-4BEF-9F43-EC5048ED4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6B9D4B8-5C03-4CEC-B557-19E7FC5767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1F03E98-4B6E-4D00-8A3B-66EEFD3E6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64DAA-2D40-48FF-BEF7-FF13A315CEAF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F08C6E-2A65-4377-ACF0-9D0AE0289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6E55339-CD2E-48EB-B890-2C1B30123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C9F9E-F8D8-4256-A8C6-FCC6807A1668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8323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56CA044-7BEF-44D8-828D-EA705B5A8C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CA"/>
              <a:t>Modifier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F82A3CC-7C16-4F90-944A-842689402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DC17980-E1B9-4ED6-BDA7-B3B193487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64DAA-2D40-48FF-BEF7-FF13A315CEAF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BAD5B42-637C-4B40-9F1F-1B8DDF08F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8894D26-8A95-4D3E-A675-C79C3CC72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C9F9E-F8D8-4256-A8C6-FCC6807A1668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2618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FF742A6-8D73-4418-936E-7D88BE5E2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/>
              <a:t>Modifier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AE5936E-976F-48FD-B4EB-5D69DEAEC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78A8AF8-8063-4228-8FE8-4144DD7D6D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F64DAA-2D40-48FF-BEF7-FF13A315CEAF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60B3A9D-D8BB-466D-974B-7CF7FA298A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DFE7CC-0B32-4B96-9680-024A6F1ACA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7C9F9E-F8D8-4256-A8C6-FCC6807A1668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2468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Connecteur droit avec flèche 57">
            <a:extLst>
              <a:ext uri="{FF2B5EF4-FFF2-40B4-BE49-F238E27FC236}">
                <a16:creationId xmlns:a16="http://schemas.microsoft.com/office/drawing/2014/main" id="{588E0B3D-2595-4A01-B637-AC57F6138A97}"/>
              </a:ext>
            </a:extLst>
          </p:cNvPr>
          <p:cNvCxnSpPr>
            <a:cxnSpLocks/>
            <a:endCxn id="35" idx="2"/>
          </p:cNvCxnSpPr>
          <p:nvPr/>
        </p:nvCxnSpPr>
        <p:spPr>
          <a:xfrm flipV="1">
            <a:off x="2225504" y="3252451"/>
            <a:ext cx="1" cy="492942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92148045-F1A5-41F9-ADB8-CD52E3D0D868}"/>
              </a:ext>
            </a:extLst>
          </p:cNvPr>
          <p:cNvSpPr txBox="1"/>
          <p:nvPr/>
        </p:nvSpPr>
        <p:spPr>
          <a:xfrm>
            <a:off x="443505" y="244341"/>
            <a:ext cx="3564000" cy="783698"/>
          </a:xfrm>
          <a:prstGeom prst="rect">
            <a:avLst/>
          </a:prstGeom>
          <a:solidFill>
            <a:srgbClr val="E9C561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fr-CA" sz="2000" b="1" dirty="0"/>
              <a:t>input translation tables</a:t>
            </a:r>
          </a:p>
          <a:p>
            <a:pPr algn="ctr"/>
            <a:r>
              <a:rPr lang="fr-CA" dirty="0"/>
              <a:t>(ab_avi01_cas, …, ab_avi01_geo)</a:t>
            </a:r>
            <a:endParaRPr lang="en-GB" dirty="0"/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27AED0FC-905D-4795-863B-56D13777FB06}"/>
              </a:ext>
            </a:extLst>
          </p:cNvPr>
          <p:cNvSpPr/>
          <p:nvPr/>
        </p:nvSpPr>
        <p:spPr>
          <a:xfrm>
            <a:off x="443505" y="1342255"/>
            <a:ext cx="3564000" cy="627017"/>
          </a:xfrm>
          <a:prstGeom prst="roundRect">
            <a:avLst/>
          </a:prstGeom>
          <a:solidFill>
            <a:srgbClr val="83971D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dirty="0" err="1">
                <a:solidFill>
                  <a:schemeClr val="bg1"/>
                </a:solidFill>
              </a:rPr>
              <a:t>TT_Prepare</a:t>
            </a:r>
            <a:r>
              <a:rPr lang="fr-CA" sz="2400" dirty="0">
                <a:solidFill>
                  <a:schemeClr val="bg1"/>
                </a:solidFill>
              </a:rPr>
              <a:t>()</a:t>
            </a:r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4B6E7328-AE26-4126-9E7D-DABCF269FE53}"/>
              </a:ext>
            </a:extLst>
          </p:cNvPr>
          <p:cNvSpPr/>
          <p:nvPr/>
        </p:nvSpPr>
        <p:spPr>
          <a:xfrm>
            <a:off x="443505" y="2356445"/>
            <a:ext cx="3564000" cy="896006"/>
          </a:xfrm>
          <a:prstGeom prst="roundRect">
            <a:avLst/>
          </a:prstGeom>
          <a:solidFill>
            <a:srgbClr val="83971D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000" dirty="0">
                <a:solidFill>
                  <a:schemeClr val="bg1"/>
                </a:solidFill>
              </a:rPr>
              <a:t>TT_Translate_AB03_CAS()</a:t>
            </a:r>
            <a:br>
              <a:rPr lang="fr-CA" sz="2000" dirty="0">
                <a:solidFill>
                  <a:schemeClr val="bg1"/>
                </a:solidFill>
              </a:rPr>
            </a:br>
            <a:r>
              <a:rPr lang="fr-CA" sz="1400" dirty="0">
                <a:solidFill>
                  <a:schemeClr val="bg1"/>
                </a:solidFill>
              </a:rPr>
              <a:t>…</a:t>
            </a:r>
            <a:br>
              <a:rPr lang="fr-CA" sz="2000" dirty="0">
                <a:solidFill>
                  <a:schemeClr val="bg1"/>
                </a:solidFill>
              </a:rPr>
            </a:br>
            <a:r>
              <a:rPr lang="fr-CA" sz="2000" dirty="0">
                <a:solidFill>
                  <a:schemeClr val="bg1"/>
                </a:solidFill>
              </a:rPr>
              <a:t>TT_Translate_AB03_GEO()</a:t>
            </a:r>
            <a:endParaRPr lang="en-GB" sz="2000" dirty="0">
              <a:solidFill>
                <a:schemeClr val="bg1"/>
              </a:solidFill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518E24C7-7A3B-4CF5-B2DE-47077D77763A}"/>
              </a:ext>
            </a:extLst>
          </p:cNvPr>
          <p:cNvSpPr txBox="1"/>
          <p:nvPr/>
        </p:nvSpPr>
        <p:spPr>
          <a:xfrm>
            <a:off x="416234" y="3598818"/>
            <a:ext cx="11422839" cy="3003885"/>
          </a:xfrm>
          <a:prstGeom prst="rect">
            <a:avLst/>
          </a:prstGeom>
          <a:solidFill>
            <a:srgbClr val="F3E0AB"/>
          </a:solidFill>
        </p:spPr>
        <p:txBody>
          <a:bodyPr wrap="square" rtlCol="0">
            <a:noAutofit/>
          </a:bodyPr>
          <a:lstStyle/>
          <a:p>
            <a:pPr algn="ctr"/>
            <a:r>
              <a:rPr lang="fr-CA" sz="2400" b="1" dirty="0"/>
              <a:t>input </a:t>
            </a:r>
            <a:r>
              <a:rPr lang="fr-CA" sz="2400" b="1" dirty="0" err="1"/>
              <a:t>inventory</a:t>
            </a:r>
            <a:r>
              <a:rPr lang="fr-CA" sz="2400" b="1" dirty="0"/>
              <a:t> data tables</a:t>
            </a:r>
            <a:endParaRPr lang="en-GB" sz="2400" b="1" dirty="0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68EA8242-6B6A-4EB3-90B2-B89A67E093C2}"/>
              </a:ext>
            </a:extLst>
          </p:cNvPr>
          <p:cNvSpPr txBox="1"/>
          <p:nvPr/>
        </p:nvSpPr>
        <p:spPr>
          <a:xfrm>
            <a:off x="4813618" y="2420985"/>
            <a:ext cx="2906741" cy="78369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fr-CA" sz="2000" b="1" dirty="0"/>
              <a:t>output </a:t>
            </a:r>
            <a:r>
              <a:rPr lang="fr-CA" sz="2000" b="1" dirty="0" err="1"/>
              <a:t>translated</a:t>
            </a:r>
            <a:r>
              <a:rPr lang="fr-CA" sz="2000" b="1"/>
              <a:t> tables</a:t>
            </a:r>
            <a:endParaRPr lang="fr-CA" sz="2000" b="1" dirty="0"/>
          </a:p>
          <a:p>
            <a:pPr algn="ctr"/>
            <a:r>
              <a:rPr lang="fr-CA" sz="2000" dirty="0"/>
              <a:t>(</a:t>
            </a:r>
            <a:r>
              <a:rPr lang="fr-CA" sz="2000" dirty="0" err="1"/>
              <a:t>cas_all</a:t>
            </a:r>
            <a:r>
              <a:rPr lang="fr-CA" sz="2000" dirty="0"/>
              <a:t>, …, </a:t>
            </a:r>
            <a:r>
              <a:rPr lang="fr-CA" sz="2000" dirty="0" err="1"/>
              <a:t>geo_all</a:t>
            </a:r>
            <a:r>
              <a:rPr lang="fr-CA" sz="2000" dirty="0"/>
              <a:t>)</a:t>
            </a:r>
            <a:endParaRPr lang="en-GB" sz="2000" dirty="0"/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7AA2E1AE-F490-4227-9B54-2BC2538BD385}"/>
              </a:ext>
            </a:extLst>
          </p:cNvPr>
          <p:cNvCxnSpPr>
            <a:cxnSpLocks/>
            <a:stCxn id="29" idx="2"/>
            <a:endCxn id="34" idx="0"/>
          </p:cNvCxnSpPr>
          <p:nvPr/>
        </p:nvCxnSpPr>
        <p:spPr>
          <a:xfrm>
            <a:off x="2225505" y="1028039"/>
            <a:ext cx="0" cy="314216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FEED041D-072D-45C9-8565-3D5E08191F1A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>
            <a:off x="2225505" y="1969272"/>
            <a:ext cx="0" cy="387173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avec flèche 61">
            <a:extLst>
              <a:ext uri="{FF2B5EF4-FFF2-40B4-BE49-F238E27FC236}">
                <a16:creationId xmlns:a16="http://schemas.microsoft.com/office/drawing/2014/main" id="{8CC8ACF5-1EC6-4634-8980-2725FF212CE8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>
          <a:xfrm>
            <a:off x="4007505" y="2804448"/>
            <a:ext cx="806113" cy="8386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eur droit avec flèche 82">
            <a:extLst>
              <a:ext uri="{FF2B5EF4-FFF2-40B4-BE49-F238E27FC236}">
                <a16:creationId xmlns:a16="http://schemas.microsoft.com/office/drawing/2014/main" id="{1F813C53-B34B-4270-A06C-DA2D13EEAC7A}"/>
              </a:ext>
            </a:extLst>
          </p:cNvPr>
          <p:cNvCxnSpPr>
            <a:cxnSpLocks/>
            <a:stCxn id="36" idx="0"/>
            <a:endCxn id="85" idx="2"/>
          </p:cNvCxnSpPr>
          <p:nvPr/>
        </p:nvCxnSpPr>
        <p:spPr>
          <a:xfrm flipV="1">
            <a:off x="6266989" y="2104306"/>
            <a:ext cx="0" cy="316679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 : coins arrondis 83">
            <a:extLst>
              <a:ext uri="{FF2B5EF4-FFF2-40B4-BE49-F238E27FC236}">
                <a16:creationId xmlns:a16="http://schemas.microsoft.com/office/drawing/2014/main" id="{19AA910A-CF5A-49E1-9C54-B74B80DA312A}"/>
              </a:ext>
            </a:extLst>
          </p:cNvPr>
          <p:cNvSpPr/>
          <p:nvPr/>
        </p:nvSpPr>
        <p:spPr>
          <a:xfrm>
            <a:off x="4394519" y="329287"/>
            <a:ext cx="3733635" cy="627017"/>
          </a:xfrm>
          <a:prstGeom prst="roundRect">
            <a:avLst/>
          </a:prstGeom>
          <a:solidFill>
            <a:srgbClr val="83971D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dirty="0" err="1">
                <a:solidFill>
                  <a:schemeClr val="bg1"/>
                </a:solidFill>
              </a:rPr>
              <a:t>TT_ProduceInvGeoHistory</a:t>
            </a:r>
            <a:r>
              <a:rPr lang="fr-CA" sz="2400" dirty="0">
                <a:solidFill>
                  <a:schemeClr val="bg1"/>
                </a:solidFill>
              </a:rPr>
              <a:t>()</a:t>
            </a:r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9D3FD4DA-0D04-44DE-8E60-7DFA3F913499}"/>
              </a:ext>
            </a:extLst>
          </p:cNvPr>
          <p:cNvSpPr txBox="1"/>
          <p:nvPr/>
        </p:nvSpPr>
        <p:spPr>
          <a:xfrm>
            <a:off x="4813618" y="1320608"/>
            <a:ext cx="2906741" cy="78369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fr-CA" sz="2000" b="1" dirty="0"/>
              <a:t>output flat table</a:t>
            </a:r>
          </a:p>
          <a:p>
            <a:pPr algn="ctr"/>
            <a:r>
              <a:rPr lang="fr-CA" sz="1400" dirty="0"/>
              <a:t>(</a:t>
            </a:r>
            <a:r>
              <a:rPr lang="en-GB" sz="1400" dirty="0" err="1"/>
              <a:t>cas_flat_all_layers_same_row</a:t>
            </a:r>
            <a:r>
              <a:rPr lang="fr-CA" sz="1400" dirty="0"/>
              <a:t>)</a:t>
            </a:r>
            <a:endParaRPr lang="en-GB" sz="1400" dirty="0"/>
          </a:p>
        </p:txBody>
      </p:sp>
      <p:sp>
        <p:nvSpPr>
          <p:cNvPr id="100" name="Ellipse 99">
            <a:extLst>
              <a:ext uri="{FF2B5EF4-FFF2-40B4-BE49-F238E27FC236}">
                <a16:creationId xmlns:a16="http://schemas.microsoft.com/office/drawing/2014/main" id="{FBB50B8A-231F-4103-A471-9856B1C423B5}"/>
              </a:ext>
            </a:extLst>
          </p:cNvPr>
          <p:cNvSpPr/>
          <p:nvPr/>
        </p:nvSpPr>
        <p:spPr>
          <a:xfrm>
            <a:off x="697806" y="1384043"/>
            <a:ext cx="558321" cy="55832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800" b="1" dirty="0"/>
              <a:t>2</a:t>
            </a:r>
            <a:endParaRPr lang="en-GB" sz="2800" b="1" dirty="0"/>
          </a:p>
        </p:txBody>
      </p:sp>
      <p:sp>
        <p:nvSpPr>
          <p:cNvPr id="103" name="Ellipse 102">
            <a:extLst>
              <a:ext uri="{FF2B5EF4-FFF2-40B4-BE49-F238E27FC236}">
                <a16:creationId xmlns:a16="http://schemas.microsoft.com/office/drawing/2014/main" id="{2E2C0892-9CB5-4FCC-8970-C59A70249581}"/>
              </a:ext>
            </a:extLst>
          </p:cNvPr>
          <p:cNvSpPr/>
          <p:nvPr/>
        </p:nvSpPr>
        <p:spPr>
          <a:xfrm>
            <a:off x="3676975" y="2530843"/>
            <a:ext cx="558321" cy="55832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800" b="1" dirty="0"/>
              <a:t>3</a:t>
            </a:r>
            <a:endParaRPr lang="en-GB" sz="2800" b="1" dirty="0"/>
          </a:p>
        </p:txBody>
      </p:sp>
      <p:sp>
        <p:nvSpPr>
          <p:cNvPr id="104" name="Ellipse 103">
            <a:extLst>
              <a:ext uri="{FF2B5EF4-FFF2-40B4-BE49-F238E27FC236}">
                <a16:creationId xmlns:a16="http://schemas.microsoft.com/office/drawing/2014/main" id="{5C70298B-5BFC-4D37-839D-F007BAB8D9CA}"/>
              </a:ext>
            </a:extLst>
          </p:cNvPr>
          <p:cNvSpPr/>
          <p:nvPr/>
        </p:nvSpPr>
        <p:spPr>
          <a:xfrm>
            <a:off x="5594379" y="2007787"/>
            <a:ext cx="558321" cy="55832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800" b="1" dirty="0"/>
              <a:t>4</a:t>
            </a:r>
            <a:endParaRPr lang="en-GB" sz="2800" b="1" dirty="0"/>
          </a:p>
        </p:txBody>
      </p:sp>
      <p:sp>
        <p:nvSpPr>
          <p:cNvPr id="110" name="ZoneTexte 109">
            <a:extLst>
              <a:ext uri="{FF2B5EF4-FFF2-40B4-BE49-F238E27FC236}">
                <a16:creationId xmlns:a16="http://schemas.microsoft.com/office/drawing/2014/main" id="{5707500A-F67A-4FD0-9DD3-C3889083A698}"/>
              </a:ext>
            </a:extLst>
          </p:cNvPr>
          <p:cNvSpPr txBox="1"/>
          <p:nvPr/>
        </p:nvSpPr>
        <p:spPr>
          <a:xfrm>
            <a:off x="8811959" y="329286"/>
            <a:ext cx="2448000" cy="62701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fr-CA" b="1" dirty="0"/>
              <a:t>output </a:t>
            </a:r>
            <a:r>
              <a:rPr lang="fr-CA" b="1" dirty="0" err="1"/>
              <a:t>geohistory</a:t>
            </a:r>
            <a:r>
              <a:rPr lang="fr-CA" b="1" dirty="0"/>
              <a:t> table</a:t>
            </a:r>
            <a:endParaRPr lang="en-GB" b="1" dirty="0"/>
          </a:p>
        </p:txBody>
      </p:sp>
      <p:cxnSp>
        <p:nvCxnSpPr>
          <p:cNvPr id="115" name="Connecteur droit avec flèche 114">
            <a:extLst>
              <a:ext uri="{FF2B5EF4-FFF2-40B4-BE49-F238E27FC236}">
                <a16:creationId xmlns:a16="http://schemas.microsoft.com/office/drawing/2014/main" id="{A668FD2A-5FAB-4942-9335-A0764BB762DC}"/>
              </a:ext>
            </a:extLst>
          </p:cNvPr>
          <p:cNvCxnSpPr>
            <a:cxnSpLocks/>
            <a:stCxn id="85" idx="0"/>
            <a:endCxn id="84" idx="2"/>
          </p:cNvCxnSpPr>
          <p:nvPr/>
        </p:nvCxnSpPr>
        <p:spPr>
          <a:xfrm flipH="1" flipV="1">
            <a:off x="6261337" y="956304"/>
            <a:ext cx="5652" cy="364304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eur droit avec flèche 120">
            <a:extLst>
              <a:ext uri="{FF2B5EF4-FFF2-40B4-BE49-F238E27FC236}">
                <a16:creationId xmlns:a16="http://schemas.microsoft.com/office/drawing/2014/main" id="{0145ABF2-42BA-4FF8-9794-CE012DC6D327}"/>
              </a:ext>
            </a:extLst>
          </p:cNvPr>
          <p:cNvCxnSpPr>
            <a:cxnSpLocks/>
            <a:stCxn id="84" idx="3"/>
            <a:endCxn id="110" idx="1"/>
          </p:cNvCxnSpPr>
          <p:nvPr/>
        </p:nvCxnSpPr>
        <p:spPr>
          <a:xfrm flipV="1">
            <a:off x="8128154" y="642794"/>
            <a:ext cx="683805" cy="2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ctangle : coins arrondis 123">
            <a:extLst>
              <a:ext uri="{FF2B5EF4-FFF2-40B4-BE49-F238E27FC236}">
                <a16:creationId xmlns:a16="http://schemas.microsoft.com/office/drawing/2014/main" id="{362EC4B2-876B-4DB9-B2DD-5451257C0990}"/>
              </a:ext>
            </a:extLst>
          </p:cNvPr>
          <p:cNvSpPr/>
          <p:nvPr/>
        </p:nvSpPr>
        <p:spPr>
          <a:xfrm>
            <a:off x="8232846" y="2502686"/>
            <a:ext cx="3606227" cy="627017"/>
          </a:xfrm>
          <a:prstGeom prst="roundRect">
            <a:avLst/>
          </a:prstGeom>
          <a:solidFill>
            <a:srgbClr val="83971D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000" dirty="0" err="1">
                <a:solidFill>
                  <a:schemeClr val="bg1"/>
                </a:solidFill>
              </a:rPr>
              <a:t>TT_ProduceDerivedCoverage</a:t>
            </a:r>
            <a:r>
              <a:rPr lang="fr-CA" sz="2000" dirty="0">
                <a:solidFill>
                  <a:schemeClr val="bg1"/>
                </a:solidFill>
              </a:rPr>
              <a:t>()</a:t>
            </a:r>
            <a:endParaRPr lang="en-GB" sz="2000" dirty="0">
              <a:solidFill>
                <a:schemeClr val="bg1"/>
              </a:solidFill>
            </a:endParaRP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2940A9D3-7C80-4680-872F-592ADB3DBF97}"/>
              </a:ext>
            </a:extLst>
          </p:cNvPr>
          <p:cNvSpPr txBox="1"/>
          <p:nvPr/>
        </p:nvSpPr>
        <p:spPr>
          <a:xfrm>
            <a:off x="8811959" y="1255445"/>
            <a:ext cx="2448000" cy="94382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fr-CA" sz="1600" b="1" dirty="0"/>
              <a:t>output </a:t>
            </a:r>
            <a:r>
              <a:rPr lang="fr-CA" sz="1600" b="1" dirty="0" err="1"/>
              <a:t>detailed</a:t>
            </a:r>
            <a:r>
              <a:rPr lang="fr-CA" sz="1600" b="1" dirty="0"/>
              <a:t>, </a:t>
            </a:r>
            <a:r>
              <a:rPr lang="fr-CA" sz="1600" b="1" dirty="0" err="1"/>
              <a:t>noholes</a:t>
            </a:r>
            <a:r>
              <a:rPr lang="fr-CA" sz="1600" b="1" dirty="0"/>
              <a:t>, </a:t>
            </a:r>
            <a:r>
              <a:rPr lang="fr-CA" sz="1600" b="1" dirty="0" err="1"/>
              <a:t>noislands</a:t>
            </a:r>
            <a:r>
              <a:rPr lang="fr-CA" sz="1600" b="1" dirty="0"/>
              <a:t>, </a:t>
            </a:r>
            <a:r>
              <a:rPr lang="fr-CA" sz="1600" b="1" dirty="0" err="1"/>
              <a:t>simplified</a:t>
            </a:r>
            <a:r>
              <a:rPr lang="fr-CA" sz="1600" b="1" dirty="0"/>
              <a:t> and </a:t>
            </a:r>
            <a:r>
              <a:rPr lang="fr-CA" sz="1600" b="1" dirty="0" err="1"/>
              <a:t>smoothed</a:t>
            </a:r>
            <a:r>
              <a:rPr lang="fr-CA" sz="1600" b="1" dirty="0"/>
              <a:t> </a:t>
            </a:r>
            <a:r>
              <a:rPr lang="fr-CA" sz="1600" b="1" dirty="0" err="1"/>
              <a:t>coverage</a:t>
            </a:r>
            <a:r>
              <a:rPr lang="fr-CA" sz="1600" b="1" dirty="0"/>
              <a:t> tables </a:t>
            </a:r>
            <a:endParaRPr lang="en-GB" sz="1600" b="1" dirty="0"/>
          </a:p>
        </p:txBody>
      </p:sp>
      <p:sp>
        <p:nvSpPr>
          <p:cNvPr id="98" name="Ellipse 97">
            <a:extLst>
              <a:ext uri="{FF2B5EF4-FFF2-40B4-BE49-F238E27FC236}">
                <a16:creationId xmlns:a16="http://schemas.microsoft.com/office/drawing/2014/main" id="{7EC45BBD-B4B7-43F0-BA7E-C8DF7E80FE36}"/>
              </a:ext>
            </a:extLst>
          </p:cNvPr>
          <p:cNvSpPr/>
          <p:nvPr/>
        </p:nvSpPr>
        <p:spPr>
          <a:xfrm>
            <a:off x="8002728" y="366752"/>
            <a:ext cx="558321" cy="55832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800" b="1" dirty="0"/>
              <a:t>5</a:t>
            </a:r>
            <a:endParaRPr lang="en-GB" sz="2800" b="1" dirty="0"/>
          </a:p>
        </p:txBody>
      </p:sp>
      <p:cxnSp>
        <p:nvCxnSpPr>
          <p:cNvPr id="132" name="Connecteur droit avec flèche 131">
            <a:extLst>
              <a:ext uri="{FF2B5EF4-FFF2-40B4-BE49-F238E27FC236}">
                <a16:creationId xmlns:a16="http://schemas.microsoft.com/office/drawing/2014/main" id="{FE766572-7744-41C2-89E8-7E86B7E5173D}"/>
              </a:ext>
            </a:extLst>
          </p:cNvPr>
          <p:cNvCxnSpPr>
            <a:cxnSpLocks/>
            <a:stCxn id="36" idx="3"/>
            <a:endCxn id="124" idx="1"/>
          </p:cNvCxnSpPr>
          <p:nvPr/>
        </p:nvCxnSpPr>
        <p:spPr>
          <a:xfrm>
            <a:off x="7720359" y="2812834"/>
            <a:ext cx="512487" cy="3361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eur droit avec flèche 134">
            <a:extLst>
              <a:ext uri="{FF2B5EF4-FFF2-40B4-BE49-F238E27FC236}">
                <a16:creationId xmlns:a16="http://schemas.microsoft.com/office/drawing/2014/main" id="{962D54E4-445F-44C7-98DB-73314A7B48AE}"/>
              </a:ext>
            </a:extLst>
          </p:cNvPr>
          <p:cNvCxnSpPr>
            <a:cxnSpLocks/>
            <a:stCxn id="124" idx="0"/>
            <a:endCxn id="125" idx="2"/>
          </p:cNvCxnSpPr>
          <p:nvPr/>
        </p:nvCxnSpPr>
        <p:spPr>
          <a:xfrm flipH="1" flipV="1">
            <a:off x="10035959" y="2199272"/>
            <a:ext cx="1" cy="303414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Ellipse 137">
            <a:extLst>
              <a:ext uri="{FF2B5EF4-FFF2-40B4-BE49-F238E27FC236}">
                <a16:creationId xmlns:a16="http://schemas.microsoft.com/office/drawing/2014/main" id="{9438A552-8A99-4397-AF98-C146E426D80C}"/>
              </a:ext>
            </a:extLst>
          </p:cNvPr>
          <p:cNvSpPr/>
          <p:nvPr/>
        </p:nvSpPr>
        <p:spPr>
          <a:xfrm>
            <a:off x="8540309" y="2083978"/>
            <a:ext cx="558321" cy="55832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800" b="1" dirty="0"/>
              <a:t>6</a:t>
            </a:r>
            <a:endParaRPr lang="en-GB" sz="2800" b="1" dirty="0"/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537649B7-4719-422E-B684-622C820D73D2}"/>
              </a:ext>
            </a:extLst>
          </p:cNvPr>
          <p:cNvGrpSpPr/>
          <p:nvPr/>
        </p:nvGrpSpPr>
        <p:grpSpPr>
          <a:xfrm>
            <a:off x="529197" y="4085931"/>
            <a:ext cx="5494441" cy="2403578"/>
            <a:chOff x="592697" y="4085931"/>
            <a:chExt cx="5494441" cy="2403578"/>
          </a:xfrm>
        </p:grpSpPr>
        <p:grpSp>
          <p:nvGrpSpPr>
            <p:cNvPr id="13" name="Groupe 12">
              <a:extLst>
                <a:ext uri="{FF2B5EF4-FFF2-40B4-BE49-F238E27FC236}">
                  <a16:creationId xmlns:a16="http://schemas.microsoft.com/office/drawing/2014/main" id="{FF5844AA-D7FC-4D2F-9937-405F397BDA69}"/>
                </a:ext>
              </a:extLst>
            </p:cNvPr>
            <p:cNvGrpSpPr/>
            <p:nvPr/>
          </p:nvGrpSpPr>
          <p:grpSpPr>
            <a:xfrm>
              <a:off x="592697" y="4085931"/>
              <a:ext cx="5494441" cy="576000"/>
              <a:chOff x="592697" y="4085931"/>
              <a:chExt cx="5494441" cy="576000"/>
            </a:xfrm>
          </p:grpSpPr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3C55633C-E5CF-4103-B480-C4985198CA55}"/>
                  </a:ext>
                </a:extLst>
              </p:cNvPr>
              <p:cNvSpPr txBox="1"/>
              <p:nvPr/>
            </p:nvSpPr>
            <p:spPr>
              <a:xfrm>
                <a:off x="592697" y="4085931"/>
                <a:ext cx="2700000" cy="576000"/>
              </a:xfrm>
              <a:prstGeom prst="rect">
                <a:avLst/>
              </a:prstGeom>
              <a:solidFill>
                <a:srgbClr val="E9C561"/>
              </a:solidFill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de-DE" sz="1600" b="1" dirty="0"/>
                  <a:t>view</a:t>
                </a:r>
                <a:br>
                  <a:rPr lang="de-DE" sz="1600" dirty="0"/>
                </a:br>
                <a:r>
                  <a:rPr lang="de-DE" sz="1600" dirty="0"/>
                  <a:t>ab03_l1_to_ab_avi01_l1_map</a:t>
                </a:r>
                <a:endParaRPr lang="en-GB" sz="1600" dirty="0"/>
              </a:p>
            </p:txBody>
          </p:sp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3B929AF0-FBAF-4F31-8CC8-1536E0F8D185}"/>
                  </a:ext>
                </a:extLst>
              </p:cNvPr>
              <p:cNvSpPr txBox="1"/>
              <p:nvPr/>
            </p:nvSpPr>
            <p:spPr>
              <a:xfrm>
                <a:off x="3387138" y="4085931"/>
                <a:ext cx="2700000" cy="576000"/>
              </a:xfrm>
              <a:prstGeom prst="rect">
                <a:avLst/>
              </a:prstGeom>
              <a:solidFill>
                <a:srgbClr val="E9C561"/>
              </a:solidFill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de-DE" sz="1600" b="1" dirty="0"/>
                  <a:t>view</a:t>
                </a:r>
                <a:br>
                  <a:rPr lang="de-DE" sz="1600" dirty="0"/>
                </a:br>
                <a:r>
                  <a:rPr lang="de-DE" sz="1600" dirty="0"/>
                  <a:t>ab03_l2_to_ab_avi01_l1_map</a:t>
                </a:r>
                <a:endParaRPr lang="en-GB" sz="1600" dirty="0"/>
              </a:p>
            </p:txBody>
          </p:sp>
        </p:grpSp>
        <p:cxnSp>
          <p:nvCxnSpPr>
            <p:cNvPr id="52" name="Connecteur droit avec flèche 51">
              <a:extLst>
                <a:ext uri="{FF2B5EF4-FFF2-40B4-BE49-F238E27FC236}">
                  <a16:creationId xmlns:a16="http://schemas.microsoft.com/office/drawing/2014/main" id="{A3D14383-D910-496A-A171-C0F53BD94BF8}"/>
                </a:ext>
              </a:extLst>
            </p:cNvPr>
            <p:cNvCxnSpPr>
              <a:cxnSpLocks/>
              <a:stCxn id="7" idx="0"/>
              <a:endCxn id="8" idx="2"/>
            </p:cNvCxnSpPr>
            <p:nvPr/>
          </p:nvCxnSpPr>
          <p:spPr>
            <a:xfrm flipH="1" flipV="1">
              <a:off x="1942697" y="4661931"/>
              <a:ext cx="1397220" cy="225415"/>
            </a:xfrm>
            <a:prstGeom prst="straightConnector1">
              <a:avLst/>
            </a:prstGeom>
            <a:ln w="5715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eur droit avec flèche 55">
              <a:extLst>
                <a:ext uri="{FF2B5EF4-FFF2-40B4-BE49-F238E27FC236}">
                  <a16:creationId xmlns:a16="http://schemas.microsoft.com/office/drawing/2014/main" id="{80BC5CAA-E2ED-4886-9A71-905CB300F5AB}"/>
                </a:ext>
              </a:extLst>
            </p:cNvPr>
            <p:cNvCxnSpPr>
              <a:cxnSpLocks/>
              <a:stCxn id="23" idx="2"/>
              <a:endCxn id="7" idx="0"/>
            </p:cNvCxnSpPr>
            <p:nvPr/>
          </p:nvCxnSpPr>
          <p:spPr>
            <a:xfrm flipH="1">
              <a:off x="3339917" y="4661931"/>
              <a:ext cx="1397221" cy="225415"/>
            </a:xfrm>
            <a:prstGeom prst="straightConnector1">
              <a:avLst/>
            </a:prstGeom>
            <a:ln w="57150">
              <a:solidFill>
                <a:schemeClr val="bg2">
                  <a:lumMod val="50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E9070072-1936-400B-BA64-017399636A46}"/>
                </a:ext>
              </a:extLst>
            </p:cNvPr>
            <p:cNvSpPr/>
            <p:nvPr/>
          </p:nvSpPr>
          <p:spPr>
            <a:xfrm>
              <a:off x="1433001" y="4887346"/>
              <a:ext cx="3813832" cy="633180"/>
            </a:xfrm>
            <a:prstGeom prst="roundRect">
              <a:avLst/>
            </a:prstGeom>
            <a:solidFill>
              <a:srgbClr val="83971D"/>
            </a:solidFill>
            <a:ln>
              <a:noFill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sz="2400" dirty="0" err="1">
                  <a:solidFill>
                    <a:schemeClr val="bg1"/>
                  </a:solidFill>
                </a:rPr>
                <a:t>TT_CreateMappingview</a:t>
              </a:r>
              <a:r>
                <a:rPr lang="fr-CA" sz="2400" dirty="0">
                  <a:solidFill>
                    <a:schemeClr val="bg1"/>
                  </a:solidFill>
                </a:rPr>
                <a:t>()</a:t>
              </a:r>
              <a:endParaRPr lang="en-GB" sz="2400" dirty="0">
                <a:solidFill>
                  <a:schemeClr val="bg1"/>
                </a:solidFill>
              </a:endParaRPr>
            </a:p>
          </p:txBody>
        </p:sp>
        <p:cxnSp>
          <p:nvCxnSpPr>
            <p:cNvPr id="44" name="Connecteur droit avec flèche 43">
              <a:extLst>
                <a:ext uri="{FF2B5EF4-FFF2-40B4-BE49-F238E27FC236}">
                  <a16:creationId xmlns:a16="http://schemas.microsoft.com/office/drawing/2014/main" id="{D8251F2D-B8AC-4441-AF62-FAB45783D64D}"/>
                </a:ext>
              </a:extLst>
            </p:cNvPr>
            <p:cNvCxnSpPr>
              <a:cxnSpLocks/>
              <a:stCxn id="19" idx="0"/>
              <a:endCxn id="7" idx="2"/>
            </p:cNvCxnSpPr>
            <p:nvPr/>
          </p:nvCxnSpPr>
          <p:spPr>
            <a:xfrm flipV="1">
              <a:off x="2196917" y="5520526"/>
              <a:ext cx="1143000" cy="230319"/>
            </a:xfrm>
            <a:prstGeom prst="straightConnector1">
              <a:avLst/>
            </a:prstGeom>
            <a:ln w="5715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eur droit avec flèche 45">
              <a:extLst>
                <a:ext uri="{FF2B5EF4-FFF2-40B4-BE49-F238E27FC236}">
                  <a16:creationId xmlns:a16="http://schemas.microsoft.com/office/drawing/2014/main" id="{1DD0C3D4-D0AE-4648-89BC-3BC76780D990}"/>
                </a:ext>
              </a:extLst>
            </p:cNvPr>
            <p:cNvCxnSpPr>
              <a:cxnSpLocks/>
              <a:stCxn id="20" idx="0"/>
              <a:endCxn id="7" idx="2"/>
            </p:cNvCxnSpPr>
            <p:nvPr/>
          </p:nvCxnSpPr>
          <p:spPr>
            <a:xfrm flipH="1" flipV="1">
              <a:off x="3339917" y="5520526"/>
              <a:ext cx="1143000" cy="230319"/>
            </a:xfrm>
            <a:prstGeom prst="straightConnector1">
              <a:avLst/>
            </a:prstGeom>
            <a:ln w="5715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Groupe 16">
              <a:extLst>
                <a:ext uri="{FF2B5EF4-FFF2-40B4-BE49-F238E27FC236}">
                  <a16:creationId xmlns:a16="http://schemas.microsoft.com/office/drawing/2014/main" id="{99494E4A-9411-4282-8C8A-2342990AE0CB}"/>
                </a:ext>
              </a:extLst>
            </p:cNvPr>
            <p:cNvGrpSpPr/>
            <p:nvPr/>
          </p:nvGrpSpPr>
          <p:grpSpPr>
            <a:xfrm>
              <a:off x="1053917" y="5750845"/>
              <a:ext cx="4572000" cy="738664"/>
              <a:chOff x="587829" y="5381842"/>
              <a:chExt cx="2160000" cy="738664"/>
            </a:xfrm>
            <a:solidFill>
              <a:srgbClr val="E9C561"/>
            </a:solidFill>
          </p:grpSpPr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68856667-7693-44C2-99A9-66E7831C948B}"/>
                  </a:ext>
                </a:extLst>
              </p:cNvPr>
              <p:cNvSpPr txBox="1"/>
              <p:nvPr/>
            </p:nvSpPr>
            <p:spPr>
              <a:xfrm>
                <a:off x="587829" y="5751174"/>
                <a:ext cx="2160000" cy="369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CA" b="1" dirty="0" err="1"/>
                  <a:t>converted</a:t>
                </a:r>
                <a:r>
                  <a:rPr lang="fr-CA" b="1" dirty="0"/>
                  <a:t> </a:t>
                </a:r>
                <a:r>
                  <a:rPr lang="fr-CA" b="1" dirty="0" err="1"/>
                  <a:t>raw</a:t>
                </a:r>
                <a:r>
                  <a:rPr lang="fr-CA" b="1" dirty="0"/>
                  <a:t> source </a:t>
                </a:r>
                <a:r>
                  <a:rPr lang="fr-CA" b="1" dirty="0" err="1"/>
                  <a:t>inventory</a:t>
                </a:r>
                <a:r>
                  <a:rPr lang="fr-CA" b="1" dirty="0"/>
                  <a:t> table </a:t>
                </a:r>
                <a:r>
                  <a:rPr lang="fr-CA" dirty="0"/>
                  <a:t>(ab03)</a:t>
                </a:r>
                <a:endParaRPr lang="en-GB" dirty="0"/>
              </a:p>
            </p:txBody>
          </p:sp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F2D4F7AD-DFF5-4ABF-A07F-E7BB97413C7F}"/>
                  </a:ext>
                </a:extLst>
              </p:cNvPr>
              <p:cNvSpPr txBox="1"/>
              <p:nvPr/>
            </p:nvSpPr>
            <p:spPr>
              <a:xfrm>
                <a:off x="587829" y="5381842"/>
                <a:ext cx="1080000" cy="369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CA" dirty="0"/>
                  <a:t>layer 1</a:t>
                </a:r>
                <a:endParaRPr lang="en-GB" dirty="0"/>
              </a:p>
            </p:txBody>
          </p:sp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92453F32-F9E9-4237-A192-670E5EEADC88}"/>
                  </a:ext>
                </a:extLst>
              </p:cNvPr>
              <p:cNvSpPr txBox="1"/>
              <p:nvPr/>
            </p:nvSpPr>
            <p:spPr>
              <a:xfrm>
                <a:off x="1667829" y="5381842"/>
                <a:ext cx="1080000" cy="369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CA" dirty="0"/>
                  <a:t>layer 2</a:t>
                </a:r>
                <a:endParaRPr lang="en-GB" dirty="0"/>
              </a:p>
            </p:txBody>
          </p:sp>
          <p:cxnSp>
            <p:nvCxnSpPr>
              <p:cNvPr id="21" name="Connecteur droit 20">
                <a:extLst>
                  <a:ext uri="{FF2B5EF4-FFF2-40B4-BE49-F238E27FC236}">
                    <a16:creationId xmlns:a16="http://schemas.microsoft.com/office/drawing/2014/main" id="{73D481BA-EB3E-4C34-8884-3907E60E1D74}"/>
                  </a:ext>
                </a:extLst>
              </p:cNvPr>
              <p:cNvCxnSpPr/>
              <p:nvPr/>
            </p:nvCxnSpPr>
            <p:spPr>
              <a:xfrm>
                <a:off x="587829" y="5751174"/>
                <a:ext cx="2160000" cy="0"/>
              </a:xfrm>
              <a:prstGeom prst="line">
                <a:avLst/>
              </a:prstGeom>
              <a:grpFill/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Connecteur droit 21">
                <a:extLst>
                  <a:ext uri="{FF2B5EF4-FFF2-40B4-BE49-F238E27FC236}">
                    <a16:creationId xmlns:a16="http://schemas.microsoft.com/office/drawing/2014/main" id="{2145B5C9-76A2-4D0E-9997-F7DFE29285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7829" y="5381842"/>
                <a:ext cx="0" cy="369331"/>
              </a:xfrm>
              <a:prstGeom prst="line">
                <a:avLst/>
              </a:prstGeom>
              <a:grpFill/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7" name="Groupe 66">
            <a:extLst>
              <a:ext uri="{FF2B5EF4-FFF2-40B4-BE49-F238E27FC236}">
                <a16:creationId xmlns:a16="http://schemas.microsoft.com/office/drawing/2014/main" id="{0204585D-227D-4391-83EF-67ACCB604E51}"/>
              </a:ext>
            </a:extLst>
          </p:cNvPr>
          <p:cNvGrpSpPr/>
          <p:nvPr/>
        </p:nvGrpSpPr>
        <p:grpSpPr>
          <a:xfrm>
            <a:off x="6181579" y="4085931"/>
            <a:ext cx="5529537" cy="2403578"/>
            <a:chOff x="592697" y="4085931"/>
            <a:chExt cx="5494441" cy="2403578"/>
          </a:xfrm>
        </p:grpSpPr>
        <p:grpSp>
          <p:nvGrpSpPr>
            <p:cNvPr id="68" name="Groupe 67">
              <a:extLst>
                <a:ext uri="{FF2B5EF4-FFF2-40B4-BE49-F238E27FC236}">
                  <a16:creationId xmlns:a16="http://schemas.microsoft.com/office/drawing/2014/main" id="{F8383BE7-6FE5-42F6-BCD1-E2DF0A2666F6}"/>
                </a:ext>
              </a:extLst>
            </p:cNvPr>
            <p:cNvGrpSpPr/>
            <p:nvPr/>
          </p:nvGrpSpPr>
          <p:grpSpPr>
            <a:xfrm>
              <a:off x="592697" y="4085931"/>
              <a:ext cx="5494441" cy="576000"/>
              <a:chOff x="592697" y="4085931"/>
              <a:chExt cx="5494441" cy="576000"/>
            </a:xfrm>
          </p:grpSpPr>
          <p:sp>
            <p:nvSpPr>
              <p:cNvPr id="80" name="ZoneTexte 79">
                <a:extLst>
                  <a:ext uri="{FF2B5EF4-FFF2-40B4-BE49-F238E27FC236}">
                    <a16:creationId xmlns:a16="http://schemas.microsoft.com/office/drawing/2014/main" id="{BB82735C-B827-4CD0-AE0A-1C5873BA1511}"/>
                  </a:ext>
                </a:extLst>
              </p:cNvPr>
              <p:cNvSpPr txBox="1"/>
              <p:nvPr/>
            </p:nvSpPr>
            <p:spPr>
              <a:xfrm>
                <a:off x="592697" y="4085931"/>
                <a:ext cx="2700000" cy="576000"/>
              </a:xfrm>
              <a:prstGeom prst="rect">
                <a:avLst/>
              </a:prstGeom>
              <a:solidFill>
                <a:srgbClr val="E9C561"/>
              </a:solidFill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de-DE" sz="1600" b="1" dirty="0"/>
                  <a:t>view</a:t>
                </a:r>
                <a:br>
                  <a:rPr lang="de-DE" sz="1600" dirty="0"/>
                </a:br>
                <a:r>
                  <a:rPr lang="de-DE" sz="1600" dirty="0"/>
                  <a:t>ab03_l1_to_ab_avi01_l1_map</a:t>
                </a:r>
                <a:endParaRPr lang="en-GB" sz="1600" dirty="0"/>
              </a:p>
            </p:txBody>
          </p:sp>
          <p:sp>
            <p:nvSpPr>
              <p:cNvPr id="81" name="ZoneTexte 80">
                <a:extLst>
                  <a:ext uri="{FF2B5EF4-FFF2-40B4-BE49-F238E27FC236}">
                    <a16:creationId xmlns:a16="http://schemas.microsoft.com/office/drawing/2014/main" id="{4B551175-9D31-480C-AB6E-9C828C1AC70D}"/>
                  </a:ext>
                </a:extLst>
              </p:cNvPr>
              <p:cNvSpPr txBox="1"/>
              <p:nvPr/>
            </p:nvSpPr>
            <p:spPr>
              <a:xfrm>
                <a:off x="3387138" y="4085931"/>
                <a:ext cx="2700000" cy="576000"/>
              </a:xfrm>
              <a:prstGeom prst="rect">
                <a:avLst/>
              </a:prstGeom>
              <a:solidFill>
                <a:srgbClr val="E9C561"/>
              </a:solidFill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de-DE" sz="1600" b="1" dirty="0"/>
                  <a:t>view</a:t>
                </a:r>
                <a:br>
                  <a:rPr lang="de-DE" sz="1600" dirty="0"/>
                </a:br>
                <a:r>
                  <a:rPr lang="de-DE" sz="1600" dirty="0"/>
                  <a:t>ab03_l2_to_ab_avi01_l1_map</a:t>
                </a:r>
                <a:endParaRPr lang="en-GB" sz="1600" dirty="0"/>
              </a:p>
            </p:txBody>
          </p:sp>
        </p:grpSp>
        <p:cxnSp>
          <p:nvCxnSpPr>
            <p:cNvPr id="69" name="Connecteur droit avec flèche 68">
              <a:extLst>
                <a:ext uri="{FF2B5EF4-FFF2-40B4-BE49-F238E27FC236}">
                  <a16:creationId xmlns:a16="http://schemas.microsoft.com/office/drawing/2014/main" id="{1248FC40-8982-4E21-A259-2309CC3C0225}"/>
                </a:ext>
              </a:extLst>
            </p:cNvPr>
            <p:cNvCxnSpPr>
              <a:cxnSpLocks/>
              <a:stCxn id="71" idx="0"/>
              <a:endCxn id="80" idx="2"/>
            </p:cNvCxnSpPr>
            <p:nvPr/>
          </p:nvCxnSpPr>
          <p:spPr>
            <a:xfrm flipH="1" flipV="1">
              <a:off x="1942697" y="4661931"/>
              <a:ext cx="1397220" cy="225415"/>
            </a:xfrm>
            <a:prstGeom prst="straightConnector1">
              <a:avLst/>
            </a:prstGeom>
            <a:ln w="5715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cteur droit avec flèche 69">
              <a:extLst>
                <a:ext uri="{FF2B5EF4-FFF2-40B4-BE49-F238E27FC236}">
                  <a16:creationId xmlns:a16="http://schemas.microsoft.com/office/drawing/2014/main" id="{7604DE67-665B-4A20-BACD-46EAF22CB769}"/>
                </a:ext>
              </a:extLst>
            </p:cNvPr>
            <p:cNvCxnSpPr>
              <a:cxnSpLocks/>
              <a:stCxn id="81" idx="2"/>
              <a:endCxn id="71" idx="0"/>
            </p:cNvCxnSpPr>
            <p:nvPr/>
          </p:nvCxnSpPr>
          <p:spPr>
            <a:xfrm flipH="1">
              <a:off x="3339917" y="4661931"/>
              <a:ext cx="1397221" cy="225415"/>
            </a:xfrm>
            <a:prstGeom prst="straightConnector1">
              <a:avLst/>
            </a:prstGeom>
            <a:ln w="57150">
              <a:solidFill>
                <a:schemeClr val="bg2">
                  <a:lumMod val="50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Rectangle : coins arrondis 70">
              <a:extLst>
                <a:ext uri="{FF2B5EF4-FFF2-40B4-BE49-F238E27FC236}">
                  <a16:creationId xmlns:a16="http://schemas.microsoft.com/office/drawing/2014/main" id="{156004A5-0634-48C1-92D0-D7C0AFE62A59}"/>
                </a:ext>
              </a:extLst>
            </p:cNvPr>
            <p:cNvSpPr/>
            <p:nvPr/>
          </p:nvSpPr>
          <p:spPr>
            <a:xfrm>
              <a:off x="1433001" y="4887346"/>
              <a:ext cx="3813832" cy="633180"/>
            </a:xfrm>
            <a:prstGeom prst="roundRect">
              <a:avLst/>
            </a:prstGeom>
            <a:solidFill>
              <a:srgbClr val="83971D"/>
            </a:solidFill>
            <a:ln>
              <a:noFill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sz="2400" dirty="0" err="1">
                  <a:solidFill>
                    <a:schemeClr val="bg1"/>
                  </a:solidFill>
                </a:rPr>
                <a:t>TT_CreateMappingview</a:t>
              </a:r>
              <a:r>
                <a:rPr lang="fr-CA" sz="2400" dirty="0">
                  <a:solidFill>
                    <a:schemeClr val="bg1"/>
                  </a:solidFill>
                </a:rPr>
                <a:t>()</a:t>
              </a:r>
              <a:endParaRPr lang="en-GB" sz="2400" dirty="0">
                <a:solidFill>
                  <a:schemeClr val="bg1"/>
                </a:solidFill>
              </a:endParaRPr>
            </a:p>
          </p:txBody>
        </p:sp>
        <p:cxnSp>
          <p:nvCxnSpPr>
            <p:cNvPr id="72" name="Connecteur droit avec flèche 71">
              <a:extLst>
                <a:ext uri="{FF2B5EF4-FFF2-40B4-BE49-F238E27FC236}">
                  <a16:creationId xmlns:a16="http://schemas.microsoft.com/office/drawing/2014/main" id="{8AD44162-3594-467A-B74D-E599E4105649}"/>
                </a:ext>
              </a:extLst>
            </p:cNvPr>
            <p:cNvCxnSpPr>
              <a:cxnSpLocks/>
              <a:stCxn id="76" idx="0"/>
              <a:endCxn id="71" idx="2"/>
            </p:cNvCxnSpPr>
            <p:nvPr/>
          </p:nvCxnSpPr>
          <p:spPr>
            <a:xfrm flipV="1">
              <a:off x="2196917" y="5520526"/>
              <a:ext cx="1143000" cy="230319"/>
            </a:xfrm>
            <a:prstGeom prst="straightConnector1">
              <a:avLst/>
            </a:prstGeom>
            <a:ln w="5715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cteur droit avec flèche 72">
              <a:extLst>
                <a:ext uri="{FF2B5EF4-FFF2-40B4-BE49-F238E27FC236}">
                  <a16:creationId xmlns:a16="http://schemas.microsoft.com/office/drawing/2014/main" id="{A7FBF408-7828-4B49-8560-C2C4ED21689C}"/>
                </a:ext>
              </a:extLst>
            </p:cNvPr>
            <p:cNvCxnSpPr>
              <a:cxnSpLocks/>
              <a:stCxn id="77" idx="0"/>
              <a:endCxn id="71" idx="2"/>
            </p:cNvCxnSpPr>
            <p:nvPr/>
          </p:nvCxnSpPr>
          <p:spPr>
            <a:xfrm flipH="1" flipV="1">
              <a:off x="3339917" y="5520526"/>
              <a:ext cx="1143000" cy="230319"/>
            </a:xfrm>
            <a:prstGeom prst="straightConnector1">
              <a:avLst/>
            </a:prstGeom>
            <a:ln w="5715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4" name="Groupe 73">
              <a:extLst>
                <a:ext uri="{FF2B5EF4-FFF2-40B4-BE49-F238E27FC236}">
                  <a16:creationId xmlns:a16="http://schemas.microsoft.com/office/drawing/2014/main" id="{F223BF3D-B10F-464F-9551-076456231D18}"/>
                </a:ext>
              </a:extLst>
            </p:cNvPr>
            <p:cNvGrpSpPr/>
            <p:nvPr/>
          </p:nvGrpSpPr>
          <p:grpSpPr>
            <a:xfrm>
              <a:off x="1053917" y="5750845"/>
              <a:ext cx="4572000" cy="738664"/>
              <a:chOff x="587829" y="5381842"/>
              <a:chExt cx="2160000" cy="738664"/>
            </a:xfrm>
            <a:solidFill>
              <a:srgbClr val="E9C561"/>
            </a:solidFill>
          </p:grpSpPr>
          <p:sp>
            <p:nvSpPr>
              <p:cNvPr id="75" name="ZoneTexte 74">
                <a:extLst>
                  <a:ext uri="{FF2B5EF4-FFF2-40B4-BE49-F238E27FC236}">
                    <a16:creationId xmlns:a16="http://schemas.microsoft.com/office/drawing/2014/main" id="{A211206F-41AD-4E99-B2FE-556CACF5E481}"/>
                  </a:ext>
                </a:extLst>
              </p:cNvPr>
              <p:cNvSpPr txBox="1"/>
              <p:nvPr/>
            </p:nvSpPr>
            <p:spPr>
              <a:xfrm>
                <a:off x="587829" y="5751174"/>
                <a:ext cx="2160000" cy="369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CA" b="1" dirty="0" err="1"/>
                  <a:t>converted</a:t>
                </a:r>
                <a:r>
                  <a:rPr lang="fr-CA" b="1" dirty="0"/>
                  <a:t> </a:t>
                </a:r>
                <a:r>
                  <a:rPr lang="fr-CA" b="1" dirty="0" err="1"/>
                  <a:t>raw</a:t>
                </a:r>
                <a:r>
                  <a:rPr lang="fr-CA" b="1" dirty="0"/>
                  <a:t> source </a:t>
                </a:r>
                <a:r>
                  <a:rPr lang="fr-CA" b="1" dirty="0" err="1"/>
                  <a:t>inventory</a:t>
                </a:r>
                <a:r>
                  <a:rPr lang="fr-CA" b="1" dirty="0"/>
                  <a:t> table </a:t>
                </a:r>
                <a:r>
                  <a:rPr lang="fr-CA" dirty="0"/>
                  <a:t>(ab03)</a:t>
                </a:r>
                <a:endParaRPr lang="en-GB" dirty="0"/>
              </a:p>
            </p:txBody>
          </p:sp>
          <p:sp>
            <p:nvSpPr>
              <p:cNvPr id="76" name="ZoneTexte 75">
                <a:extLst>
                  <a:ext uri="{FF2B5EF4-FFF2-40B4-BE49-F238E27FC236}">
                    <a16:creationId xmlns:a16="http://schemas.microsoft.com/office/drawing/2014/main" id="{0D82E0D5-5916-4029-A799-7B7F0BC048FA}"/>
                  </a:ext>
                </a:extLst>
              </p:cNvPr>
              <p:cNvSpPr txBox="1"/>
              <p:nvPr/>
            </p:nvSpPr>
            <p:spPr>
              <a:xfrm>
                <a:off x="587829" y="5381842"/>
                <a:ext cx="1080000" cy="369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CA" dirty="0"/>
                  <a:t>layer 1</a:t>
                </a:r>
                <a:endParaRPr lang="en-GB" dirty="0"/>
              </a:p>
            </p:txBody>
          </p:sp>
          <p:sp>
            <p:nvSpPr>
              <p:cNvPr id="77" name="ZoneTexte 76">
                <a:extLst>
                  <a:ext uri="{FF2B5EF4-FFF2-40B4-BE49-F238E27FC236}">
                    <a16:creationId xmlns:a16="http://schemas.microsoft.com/office/drawing/2014/main" id="{458BA317-E9E6-4B0B-A958-758724919B11}"/>
                  </a:ext>
                </a:extLst>
              </p:cNvPr>
              <p:cNvSpPr txBox="1"/>
              <p:nvPr/>
            </p:nvSpPr>
            <p:spPr>
              <a:xfrm>
                <a:off x="1667829" y="5381842"/>
                <a:ext cx="1080000" cy="369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CA" dirty="0"/>
                  <a:t>layer 2</a:t>
                </a:r>
                <a:endParaRPr lang="en-GB" dirty="0"/>
              </a:p>
            </p:txBody>
          </p:sp>
          <p:cxnSp>
            <p:nvCxnSpPr>
              <p:cNvPr id="78" name="Connecteur droit 77">
                <a:extLst>
                  <a:ext uri="{FF2B5EF4-FFF2-40B4-BE49-F238E27FC236}">
                    <a16:creationId xmlns:a16="http://schemas.microsoft.com/office/drawing/2014/main" id="{7D8EC140-1FA8-4D0E-BEBE-BC7EEB890195}"/>
                  </a:ext>
                </a:extLst>
              </p:cNvPr>
              <p:cNvCxnSpPr/>
              <p:nvPr/>
            </p:nvCxnSpPr>
            <p:spPr>
              <a:xfrm>
                <a:off x="587829" y="5751174"/>
                <a:ext cx="2160000" cy="0"/>
              </a:xfrm>
              <a:prstGeom prst="line">
                <a:avLst/>
              </a:prstGeom>
              <a:grpFill/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Connecteur droit 78">
                <a:extLst>
                  <a:ext uri="{FF2B5EF4-FFF2-40B4-BE49-F238E27FC236}">
                    <a16:creationId xmlns:a16="http://schemas.microsoft.com/office/drawing/2014/main" id="{71697F10-2BA0-4E4A-B6B6-8EEAAE157ED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7829" y="5381842"/>
                <a:ext cx="0" cy="369331"/>
              </a:xfrm>
              <a:prstGeom prst="line">
                <a:avLst/>
              </a:prstGeom>
              <a:grpFill/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B6BD202A-680E-4AEF-8899-A7D04A704232}"/>
              </a:ext>
            </a:extLst>
          </p:cNvPr>
          <p:cNvCxnSpPr>
            <a:cxnSpLocks/>
          </p:cNvCxnSpPr>
          <p:nvPr/>
        </p:nvCxnSpPr>
        <p:spPr>
          <a:xfrm>
            <a:off x="6091720" y="4050531"/>
            <a:ext cx="0" cy="2552172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Ellipse 98">
            <a:extLst>
              <a:ext uri="{FF2B5EF4-FFF2-40B4-BE49-F238E27FC236}">
                <a16:creationId xmlns:a16="http://schemas.microsoft.com/office/drawing/2014/main" id="{01242566-11EE-463B-B967-6FC3FB33A098}"/>
              </a:ext>
            </a:extLst>
          </p:cNvPr>
          <p:cNvSpPr/>
          <p:nvPr/>
        </p:nvSpPr>
        <p:spPr>
          <a:xfrm>
            <a:off x="777139" y="4934111"/>
            <a:ext cx="558321" cy="55832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800" b="1" dirty="0"/>
              <a:t>1</a:t>
            </a:r>
            <a:endParaRPr lang="en-GB" sz="2800" b="1" dirty="0"/>
          </a:p>
        </p:txBody>
      </p:sp>
      <p:sp>
        <p:nvSpPr>
          <p:cNvPr id="86" name="Ellipse 85">
            <a:extLst>
              <a:ext uri="{FF2B5EF4-FFF2-40B4-BE49-F238E27FC236}">
                <a16:creationId xmlns:a16="http://schemas.microsoft.com/office/drawing/2014/main" id="{0C68CA17-E594-4676-8119-24B80C9CE8ED}"/>
              </a:ext>
            </a:extLst>
          </p:cNvPr>
          <p:cNvSpPr/>
          <p:nvPr/>
        </p:nvSpPr>
        <p:spPr>
          <a:xfrm>
            <a:off x="6441787" y="4927227"/>
            <a:ext cx="558321" cy="55832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800" b="1" dirty="0"/>
              <a:t>1</a:t>
            </a:r>
            <a:endParaRPr lang="en-GB" sz="2800" b="1" dirty="0"/>
          </a:p>
        </p:txBody>
      </p:sp>
    </p:spTree>
    <p:extLst>
      <p:ext uri="{BB962C8B-B14F-4D97-AF65-F5344CB8AC3E}">
        <p14:creationId xmlns:p14="http://schemas.microsoft.com/office/powerpoint/2010/main" val="3945048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4B6E7328-AE26-4126-9E7D-DABCF269FE53}"/>
              </a:ext>
            </a:extLst>
          </p:cNvPr>
          <p:cNvSpPr/>
          <p:nvPr/>
        </p:nvSpPr>
        <p:spPr>
          <a:xfrm>
            <a:off x="443505" y="2356445"/>
            <a:ext cx="3564000" cy="896006"/>
          </a:xfrm>
          <a:prstGeom prst="roundRect">
            <a:avLst/>
          </a:prstGeom>
          <a:solidFill>
            <a:srgbClr val="83971D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000" dirty="0">
                <a:solidFill>
                  <a:schemeClr val="bg1"/>
                </a:solidFill>
              </a:rPr>
              <a:t>TT_Translate_AB03_CAS()</a:t>
            </a:r>
            <a:br>
              <a:rPr lang="fr-CA" sz="2000" dirty="0">
                <a:solidFill>
                  <a:schemeClr val="bg1"/>
                </a:solidFill>
              </a:rPr>
            </a:br>
            <a:r>
              <a:rPr lang="fr-CA" sz="1400" dirty="0">
                <a:solidFill>
                  <a:schemeClr val="bg1"/>
                </a:solidFill>
              </a:rPr>
              <a:t>…</a:t>
            </a:r>
            <a:br>
              <a:rPr lang="fr-CA" sz="2000" dirty="0">
                <a:solidFill>
                  <a:schemeClr val="bg1"/>
                </a:solidFill>
              </a:rPr>
            </a:br>
            <a:r>
              <a:rPr lang="fr-CA" sz="2000" dirty="0">
                <a:solidFill>
                  <a:schemeClr val="bg1"/>
                </a:solidFill>
              </a:rPr>
              <a:t>TT_Translate_AB03_GEO()</a:t>
            </a:r>
            <a:endParaRPr lang="en-GB" sz="2000" dirty="0">
              <a:solidFill>
                <a:schemeClr val="bg1"/>
              </a:solidFill>
            </a:endParaRPr>
          </a:p>
        </p:txBody>
      </p:sp>
      <p:cxnSp>
        <p:nvCxnSpPr>
          <p:cNvPr id="58" name="Connecteur droit avec flèche 57">
            <a:extLst>
              <a:ext uri="{FF2B5EF4-FFF2-40B4-BE49-F238E27FC236}">
                <a16:creationId xmlns:a16="http://schemas.microsoft.com/office/drawing/2014/main" id="{588E0B3D-2595-4A01-B637-AC57F6138A97}"/>
              </a:ext>
            </a:extLst>
          </p:cNvPr>
          <p:cNvCxnSpPr>
            <a:cxnSpLocks/>
            <a:stCxn id="27" idx="0"/>
            <a:endCxn id="35" idx="2"/>
          </p:cNvCxnSpPr>
          <p:nvPr/>
        </p:nvCxnSpPr>
        <p:spPr>
          <a:xfrm flipH="1" flipV="1">
            <a:off x="2225505" y="3252451"/>
            <a:ext cx="3902149" cy="346367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92148045-F1A5-41F9-ADB8-CD52E3D0D868}"/>
              </a:ext>
            </a:extLst>
          </p:cNvPr>
          <p:cNvSpPr txBox="1"/>
          <p:nvPr/>
        </p:nvSpPr>
        <p:spPr>
          <a:xfrm>
            <a:off x="443505" y="244341"/>
            <a:ext cx="3564000" cy="783698"/>
          </a:xfrm>
          <a:prstGeom prst="rect">
            <a:avLst/>
          </a:prstGeom>
          <a:solidFill>
            <a:srgbClr val="E9C561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fr-CA" sz="2000" b="1" dirty="0"/>
              <a:t>input translation tables</a:t>
            </a:r>
          </a:p>
          <a:p>
            <a:pPr algn="ctr"/>
            <a:r>
              <a:rPr lang="fr-CA" dirty="0"/>
              <a:t>(ab_avi01_cas, …, ab_avi01_geo)</a:t>
            </a:r>
            <a:endParaRPr lang="en-GB" dirty="0"/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27AED0FC-905D-4795-863B-56D13777FB06}"/>
              </a:ext>
            </a:extLst>
          </p:cNvPr>
          <p:cNvSpPr/>
          <p:nvPr/>
        </p:nvSpPr>
        <p:spPr>
          <a:xfrm>
            <a:off x="443505" y="1342255"/>
            <a:ext cx="3564000" cy="627017"/>
          </a:xfrm>
          <a:prstGeom prst="roundRect">
            <a:avLst/>
          </a:prstGeom>
          <a:solidFill>
            <a:srgbClr val="83971D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dirty="0" err="1">
                <a:solidFill>
                  <a:schemeClr val="bg1"/>
                </a:solidFill>
              </a:rPr>
              <a:t>TT_Prepare</a:t>
            </a:r>
            <a:r>
              <a:rPr lang="fr-CA" sz="2400" dirty="0">
                <a:solidFill>
                  <a:schemeClr val="bg1"/>
                </a:solidFill>
              </a:rPr>
              <a:t>()</a:t>
            </a:r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518E24C7-7A3B-4CF5-B2DE-47077D77763A}"/>
              </a:ext>
            </a:extLst>
          </p:cNvPr>
          <p:cNvSpPr txBox="1"/>
          <p:nvPr/>
        </p:nvSpPr>
        <p:spPr>
          <a:xfrm>
            <a:off x="416234" y="3598818"/>
            <a:ext cx="11422839" cy="3003885"/>
          </a:xfrm>
          <a:prstGeom prst="rect">
            <a:avLst/>
          </a:prstGeom>
          <a:solidFill>
            <a:srgbClr val="F3E0AB"/>
          </a:solidFill>
        </p:spPr>
        <p:txBody>
          <a:bodyPr wrap="square" rtlCol="0">
            <a:noAutofit/>
          </a:bodyPr>
          <a:lstStyle/>
          <a:p>
            <a:pPr algn="ctr"/>
            <a:r>
              <a:rPr lang="fr-CA" sz="2400" b="1" dirty="0"/>
              <a:t>                                                            input </a:t>
            </a:r>
            <a:r>
              <a:rPr lang="fr-CA" sz="2400" b="1" dirty="0" err="1"/>
              <a:t>inventory</a:t>
            </a:r>
            <a:r>
              <a:rPr lang="fr-CA" sz="2400" b="1" dirty="0"/>
              <a:t> data tables</a:t>
            </a:r>
            <a:endParaRPr lang="en-GB" sz="2400" b="1" dirty="0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68EA8242-6B6A-4EB3-90B2-B89A67E093C2}"/>
              </a:ext>
            </a:extLst>
          </p:cNvPr>
          <p:cNvSpPr txBox="1"/>
          <p:nvPr/>
        </p:nvSpPr>
        <p:spPr>
          <a:xfrm>
            <a:off x="4813618" y="2420985"/>
            <a:ext cx="2906741" cy="78369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fr-CA" sz="2000" b="1" dirty="0"/>
              <a:t>output </a:t>
            </a:r>
            <a:r>
              <a:rPr lang="fr-CA" sz="2000" b="1" dirty="0" err="1"/>
              <a:t>translated</a:t>
            </a:r>
            <a:r>
              <a:rPr lang="fr-CA" sz="2000" b="1" dirty="0"/>
              <a:t> tables</a:t>
            </a:r>
          </a:p>
          <a:p>
            <a:pPr algn="ctr"/>
            <a:r>
              <a:rPr lang="fr-CA" sz="1600" dirty="0"/>
              <a:t>(</a:t>
            </a:r>
            <a:r>
              <a:rPr lang="fr-CA" sz="1600" dirty="0" err="1"/>
              <a:t>cas_all</a:t>
            </a:r>
            <a:r>
              <a:rPr lang="fr-CA" sz="1600" dirty="0"/>
              <a:t>, </a:t>
            </a:r>
            <a:r>
              <a:rPr lang="fr-CA" sz="1600" dirty="0" err="1"/>
              <a:t>dst_all</a:t>
            </a:r>
            <a:r>
              <a:rPr lang="fr-CA" sz="1600" dirty="0"/>
              <a:t>, </a:t>
            </a:r>
            <a:r>
              <a:rPr lang="fr-CA" sz="1600" dirty="0" err="1"/>
              <a:t>eco_all</a:t>
            </a:r>
            <a:r>
              <a:rPr lang="fr-CA" sz="1600" dirty="0"/>
              <a:t>, </a:t>
            </a:r>
            <a:r>
              <a:rPr lang="fr-CA" sz="1600" dirty="0" err="1"/>
              <a:t>lyr_all</a:t>
            </a:r>
            <a:r>
              <a:rPr lang="fr-CA" sz="1600" dirty="0"/>
              <a:t>, </a:t>
            </a:r>
            <a:r>
              <a:rPr lang="fr-CA" sz="1600" dirty="0" err="1"/>
              <a:t>nfl_all</a:t>
            </a:r>
            <a:r>
              <a:rPr lang="fr-CA" sz="1600" dirty="0"/>
              <a:t>, </a:t>
            </a:r>
            <a:r>
              <a:rPr lang="fr-CA" sz="1600" dirty="0" err="1"/>
              <a:t>geo_all</a:t>
            </a:r>
            <a:r>
              <a:rPr lang="fr-CA" sz="1600" dirty="0"/>
              <a:t>)</a:t>
            </a:r>
            <a:endParaRPr lang="en-GB" sz="1600" dirty="0"/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7AA2E1AE-F490-4227-9B54-2BC2538BD385}"/>
              </a:ext>
            </a:extLst>
          </p:cNvPr>
          <p:cNvCxnSpPr>
            <a:cxnSpLocks/>
            <a:stCxn id="29" idx="2"/>
            <a:endCxn id="34" idx="0"/>
          </p:cNvCxnSpPr>
          <p:nvPr/>
        </p:nvCxnSpPr>
        <p:spPr>
          <a:xfrm>
            <a:off x="2225505" y="1028039"/>
            <a:ext cx="0" cy="314216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FEED041D-072D-45C9-8565-3D5E08191F1A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>
            <a:off x="2225505" y="1969272"/>
            <a:ext cx="0" cy="387173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avec flèche 61">
            <a:extLst>
              <a:ext uri="{FF2B5EF4-FFF2-40B4-BE49-F238E27FC236}">
                <a16:creationId xmlns:a16="http://schemas.microsoft.com/office/drawing/2014/main" id="{8CC8ACF5-1EC6-4634-8980-2725FF212CE8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>
          <a:xfrm>
            <a:off x="4007505" y="2804448"/>
            <a:ext cx="806113" cy="8386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eur droit avec flèche 82">
            <a:extLst>
              <a:ext uri="{FF2B5EF4-FFF2-40B4-BE49-F238E27FC236}">
                <a16:creationId xmlns:a16="http://schemas.microsoft.com/office/drawing/2014/main" id="{1F813C53-B34B-4270-A06C-DA2D13EEAC7A}"/>
              </a:ext>
            </a:extLst>
          </p:cNvPr>
          <p:cNvCxnSpPr>
            <a:cxnSpLocks/>
            <a:stCxn id="36" idx="0"/>
            <a:endCxn id="85" idx="2"/>
          </p:cNvCxnSpPr>
          <p:nvPr/>
        </p:nvCxnSpPr>
        <p:spPr>
          <a:xfrm flipV="1">
            <a:off x="6266989" y="2066206"/>
            <a:ext cx="0" cy="354779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 : coins arrondis 83">
            <a:extLst>
              <a:ext uri="{FF2B5EF4-FFF2-40B4-BE49-F238E27FC236}">
                <a16:creationId xmlns:a16="http://schemas.microsoft.com/office/drawing/2014/main" id="{19AA910A-CF5A-49E1-9C54-B74B80DA312A}"/>
              </a:ext>
            </a:extLst>
          </p:cNvPr>
          <p:cNvSpPr/>
          <p:nvPr/>
        </p:nvSpPr>
        <p:spPr>
          <a:xfrm>
            <a:off x="4394519" y="329287"/>
            <a:ext cx="3733635" cy="627017"/>
          </a:xfrm>
          <a:prstGeom prst="roundRect">
            <a:avLst/>
          </a:prstGeom>
          <a:solidFill>
            <a:srgbClr val="83971D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dirty="0" err="1">
                <a:solidFill>
                  <a:schemeClr val="bg1"/>
                </a:solidFill>
              </a:rPr>
              <a:t>TT_ProduceInvGeoHistory</a:t>
            </a:r>
            <a:r>
              <a:rPr lang="fr-CA" sz="2400" dirty="0">
                <a:solidFill>
                  <a:schemeClr val="bg1"/>
                </a:solidFill>
              </a:rPr>
              <a:t>()</a:t>
            </a:r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9D3FD4DA-0D04-44DE-8E60-7DFA3F913499}"/>
              </a:ext>
            </a:extLst>
          </p:cNvPr>
          <p:cNvSpPr txBox="1"/>
          <p:nvPr/>
        </p:nvSpPr>
        <p:spPr>
          <a:xfrm>
            <a:off x="4813618" y="1282508"/>
            <a:ext cx="2906741" cy="78369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fr-CA" sz="2000" b="1" dirty="0"/>
              <a:t>output flat table</a:t>
            </a:r>
          </a:p>
          <a:p>
            <a:pPr algn="ctr"/>
            <a:r>
              <a:rPr lang="fr-CA" sz="1400" dirty="0"/>
              <a:t>(</a:t>
            </a:r>
            <a:r>
              <a:rPr lang="en-GB" sz="1400" dirty="0" err="1"/>
              <a:t>cas_flat_all_layers_same_row</a:t>
            </a:r>
            <a:r>
              <a:rPr lang="fr-CA" sz="1400" dirty="0"/>
              <a:t>)</a:t>
            </a:r>
            <a:endParaRPr lang="en-GB" sz="1400" dirty="0"/>
          </a:p>
        </p:txBody>
      </p:sp>
      <p:sp>
        <p:nvSpPr>
          <p:cNvPr id="100" name="Ellipse 99">
            <a:extLst>
              <a:ext uri="{FF2B5EF4-FFF2-40B4-BE49-F238E27FC236}">
                <a16:creationId xmlns:a16="http://schemas.microsoft.com/office/drawing/2014/main" id="{FBB50B8A-231F-4103-A471-9856B1C423B5}"/>
              </a:ext>
            </a:extLst>
          </p:cNvPr>
          <p:cNvSpPr/>
          <p:nvPr/>
        </p:nvSpPr>
        <p:spPr>
          <a:xfrm>
            <a:off x="697806" y="1384043"/>
            <a:ext cx="558321" cy="55832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800" b="1" dirty="0"/>
              <a:t>2</a:t>
            </a:r>
            <a:endParaRPr lang="en-GB" sz="2800" b="1" dirty="0"/>
          </a:p>
        </p:txBody>
      </p:sp>
      <p:sp>
        <p:nvSpPr>
          <p:cNvPr id="103" name="Ellipse 102">
            <a:extLst>
              <a:ext uri="{FF2B5EF4-FFF2-40B4-BE49-F238E27FC236}">
                <a16:creationId xmlns:a16="http://schemas.microsoft.com/office/drawing/2014/main" id="{2E2C0892-9CB5-4FCC-8970-C59A70249581}"/>
              </a:ext>
            </a:extLst>
          </p:cNvPr>
          <p:cNvSpPr/>
          <p:nvPr/>
        </p:nvSpPr>
        <p:spPr>
          <a:xfrm>
            <a:off x="3676975" y="2530843"/>
            <a:ext cx="558321" cy="55832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800" b="1" dirty="0"/>
              <a:t>3</a:t>
            </a:r>
            <a:endParaRPr lang="en-GB" sz="2800" b="1" dirty="0"/>
          </a:p>
        </p:txBody>
      </p:sp>
      <p:sp>
        <p:nvSpPr>
          <p:cNvPr id="104" name="Ellipse 103">
            <a:extLst>
              <a:ext uri="{FF2B5EF4-FFF2-40B4-BE49-F238E27FC236}">
                <a16:creationId xmlns:a16="http://schemas.microsoft.com/office/drawing/2014/main" id="{5C70298B-5BFC-4D37-839D-F007BAB8D9CA}"/>
              </a:ext>
            </a:extLst>
          </p:cNvPr>
          <p:cNvSpPr/>
          <p:nvPr/>
        </p:nvSpPr>
        <p:spPr>
          <a:xfrm>
            <a:off x="5594379" y="1944287"/>
            <a:ext cx="558321" cy="55832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800" b="1" dirty="0"/>
              <a:t>4</a:t>
            </a:r>
            <a:endParaRPr lang="en-GB" sz="2800" b="1" dirty="0"/>
          </a:p>
        </p:txBody>
      </p:sp>
      <p:sp>
        <p:nvSpPr>
          <p:cNvPr id="110" name="ZoneTexte 109">
            <a:extLst>
              <a:ext uri="{FF2B5EF4-FFF2-40B4-BE49-F238E27FC236}">
                <a16:creationId xmlns:a16="http://schemas.microsoft.com/office/drawing/2014/main" id="{5707500A-F67A-4FD0-9DD3-C3889083A698}"/>
              </a:ext>
            </a:extLst>
          </p:cNvPr>
          <p:cNvSpPr txBox="1"/>
          <p:nvPr/>
        </p:nvSpPr>
        <p:spPr>
          <a:xfrm>
            <a:off x="8811959" y="329286"/>
            <a:ext cx="2448000" cy="62701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fr-CA" b="1" dirty="0"/>
              <a:t>output </a:t>
            </a:r>
            <a:r>
              <a:rPr lang="fr-CA" b="1" dirty="0" err="1"/>
              <a:t>geohistory</a:t>
            </a:r>
            <a:r>
              <a:rPr lang="fr-CA" b="1" dirty="0"/>
              <a:t> table</a:t>
            </a:r>
            <a:endParaRPr lang="en-GB" b="1" dirty="0"/>
          </a:p>
        </p:txBody>
      </p:sp>
      <p:cxnSp>
        <p:nvCxnSpPr>
          <p:cNvPr id="115" name="Connecteur droit avec flèche 114">
            <a:extLst>
              <a:ext uri="{FF2B5EF4-FFF2-40B4-BE49-F238E27FC236}">
                <a16:creationId xmlns:a16="http://schemas.microsoft.com/office/drawing/2014/main" id="{A668FD2A-5FAB-4942-9335-A0764BB762DC}"/>
              </a:ext>
            </a:extLst>
          </p:cNvPr>
          <p:cNvCxnSpPr>
            <a:cxnSpLocks/>
            <a:stCxn id="85" idx="0"/>
            <a:endCxn id="84" idx="2"/>
          </p:cNvCxnSpPr>
          <p:nvPr/>
        </p:nvCxnSpPr>
        <p:spPr>
          <a:xfrm flipH="1" flipV="1">
            <a:off x="6261337" y="956304"/>
            <a:ext cx="5652" cy="326204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eur droit avec flèche 120">
            <a:extLst>
              <a:ext uri="{FF2B5EF4-FFF2-40B4-BE49-F238E27FC236}">
                <a16:creationId xmlns:a16="http://schemas.microsoft.com/office/drawing/2014/main" id="{0145ABF2-42BA-4FF8-9794-CE012DC6D327}"/>
              </a:ext>
            </a:extLst>
          </p:cNvPr>
          <p:cNvCxnSpPr>
            <a:cxnSpLocks/>
            <a:stCxn id="84" idx="3"/>
            <a:endCxn id="110" idx="1"/>
          </p:cNvCxnSpPr>
          <p:nvPr/>
        </p:nvCxnSpPr>
        <p:spPr>
          <a:xfrm flipV="1">
            <a:off x="8128154" y="642794"/>
            <a:ext cx="683805" cy="2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ctangle : coins arrondis 123">
            <a:extLst>
              <a:ext uri="{FF2B5EF4-FFF2-40B4-BE49-F238E27FC236}">
                <a16:creationId xmlns:a16="http://schemas.microsoft.com/office/drawing/2014/main" id="{362EC4B2-876B-4DB9-B2DD-5451257C0990}"/>
              </a:ext>
            </a:extLst>
          </p:cNvPr>
          <p:cNvSpPr/>
          <p:nvPr/>
        </p:nvSpPr>
        <p:spPr>
          <a:xfrm>
            <a:off x="8232846" y="2502686"/>
            <a:ext cx="3606227" cy="627017"/>
          </a:xfrm>
          <a:prstGeom prst="roundRect">
            <a:avLst/>
          </a:prstGeom>
          <a:solidFill>
            <a:srgbClr val="83971D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000" dirty="0" err="1">
                <a:solidFill>
                  <a:schemeClr val="bg1"/>
                </a:solidFill>
              </a:rPr>
              <a:t>TT_ProduceDerivedCoverage</a:t>
            </a:r>
            <a:r>
              <a:rPr lang="fr-CA" sz="2000" dirty="0">
                <a:solidFill>
                  <a:schemeClr val="bg1"/>
                </a:solidFill>
              </a:rPr>
              <a:t>()</a:t>
            </a:r>
            <a:endParaRPr lang="en-GB" sz="2000" dirty="0">
              <a:solidFill>
                <a:schemeClr val="bg1"/>
              </a:solidFill>
            </a:endParaRP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2940A9D3-7C80-4680-872F-592ADB3DBF97}"/>
              </a:ext>
            </a:extLst>
          </p:cNvPr>
          <p:cNvSpPr txBox="1"/>
          <p:nvPr/>
        </p:nvSpPr>
        <p:spPr>
          <a:xfrm>
            <a:off x="8811959" y="1255445"/>
            <a:ext cx="2448000" cy="94382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fr-CA" sz="1600" b="1" dirty="0"/>
              <a:t>output </a:t>
            </a:r>
            <a:r>
              <a:rPr lang="fr-CA" sz="1600" b="1" dirty="0" err="1"/>
              <a:t>detailed</a:t>
            </a:r>
            <a:r>
              <a:rPr lang="fr-CA" sz="1600" b="1" dirty="0"/>
              <a:t>, </a:t>
            </a:r>
            <a:r>
              <a:rPr lang="fr-CA" sz="1600" b="1" dirty="0" err="1"/>
              <a:t>noholes</a:t>
            </a:r>
            <a:r>
              <a:rPr lang="fr-CA" sz="1600" b="1" dirty="0"/>
              <a:t>, </a:t>
            </a:r>
            <a:r>
              <a:rPr lang="fr-CA" sz="1600" b="1" dirty="0" err="1"/>
              <a:t>noislands</a:t>
            </a:r>
            <a:r>
              <a:rPr lang="fr-CA" sz="1600" b="1" dirty="0"/>
              <a:t>, </a:t>
            </a:r>
            <a:r>
              <a:rPr lang="fr-CA" sz="1600" b="1" dirty="0" err="1"/>
              <a:t>simplified</a:t>
            </a:r>
            <a:r>
              <a:rPr lang="fr-CA" sz="1600" b="1" dirty="0"/>
              <a:t> and </a:t>
            </a:r>
            <a:r>
              <a:rPr lang="fr-CA" sz="1600" b="1" dirty="0" err="1"/>
              <a:t>smoothed</a:t>
            </a:r>
            <a:r>
              <a:rPr lang="fr-CA" sz="1600" b="1" dirty="0"/>
              <a:t> </a:t>
            </a:r>
            <a:r>
              <a:rPr lang="fr-CA" sz="1600" b="1" dirty="0" err="1"/>
              <a:t>coverage</a:t>
            </a:r>
            <a:r>
              <a:rPr lang="fr-CA" sz="1600" b="1" dirty="0"/>
              <a:t> tables </a:t>
            </a:r>
            <a:endParaRPr lang="en-GB" sz="1600" b="1" dirty="0"/>
          </a:p>
        </p:txBody>
      </p:sp>
      <p:sp>
        <p:nvSpPr>
          <p:cNvPr id="98" name="Ellipse 97">
            <a:extLst>
              <a:ext uri="{FF2B5EF4-FFF2-40B4-BE49-F238E27FC236}">
                <a16:creationId xmlns:a16="http://schemas.microsoft.com/office/drawing/2014/main" id="{7EC45BBD-B4B7-43F0-BA7E-C8DF7E80FE36}"/>
              </a:ext>
            </a:extLst>
          </p:cNvPr>
          <p:cNvSpPr/>
          <p:nvPr/>
        </p:nvSpPr>
        <p:spPr>
          <a:xfrm>
            <a:off x="8002728" y="366752"/>
            <a:ext cx="558321" cy="55832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800" b="1" dirty="0"/>
              <a:t>5</a:t>
            </a:r>
            <a:endParaRPr lang="en-GB" sz="2800" b="1" dirty="0"/>
          </a:p>
        </p:txBody>
      </p:sp>
      <p:cxnSp>
        <p:nvCxnSpPr>
          <p:cNvPr id="132" name="Connecteur droit avec flèche 131">
            <a:extLst>
              <a:ext uri="{FF2B5EF4-FFF2-40B4-BE49-F238E27FC236}">
                <a16:creationId xmlns:a16="http://schemas.microsoft.com/office/drawing/2014/main" id="{FE766572-7744-41C2-89E8-7E86B7E5173D}"/>
              </a:ext>
            </a:extLst>
          </p:cNvPr>
          <p:cNvCxnSpPr>
            <a:cxnSpLocks/>
            <a:stCxn id="36" idx="3"/>
            <a:endCxn id="124" idx="1"/>
          </p:cNvCxnSpPr>
          <p:nvPr/>
        </p:nvCxnSpPr>
        <p:spPr>
          <a:xfrm>
            <a:off x="7720359" y="2812834"/>
            <a:ext cx="512487" cy="3361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eur droit avec flèche 134">
            <a:extLst>
              <a:ext uri="{FF2B5EF4-FFF2-40B4-BE49-F238E27FC236}">
                <a16:creationId xmlns:a16="http://schemas.microsoft.com/office/drawing/2014/main" id="{962D54E4-445F-44C7-98DB-73314A7B48AE}"/>
              </a:ext>
            </a:extLst>
          </p:cNvPr>
          <p:cNvCxnSpPr>
            <a:cxnSpLocks/>
            <a:stCxn id="124" idx="0"/>
            <a:endCxn id="125" idx="2"/>
          </p:cNvCxnSpPr>
          <p:nvPr/>
        </p:nvCxnSpPr>
        <p:spPr>
          <a:xfrm flipH="1" flipV="1">
            <a:off x="10035959" y="2199272"/>
            <a:ext cx="1" cy="303414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Ellipse 137">
            <a:extLst>
              <a:ext uri="{FF2B5EF4-FFF2-40B4-BE49-F238E27FC236}">
                <a16:creationId xmlns:a16="http://schemas.microsoft.com/office/drawing/2014/main" id="{9438A552-8A99-4397-AF98-C146E426D80C}"/>
              </a:ext>
            </a:extLst>
          </p:cNvPr>
          <p:cNvSpPr/>
          <p:nvPr/>
        </p:nvSpPr>
        <p:spPr>
          <a:xfrm>
            <a:off x="8540309" y="2083978"/>
            <a:ext cx="558321" cy="55832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800" b="1" dirty="0"/>
              <a:t>6</a:t>
            </a:r>
            <a:endParaRPr lang="en-GB" sz="2800" b="1" dirty="0"/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537649B7-4719-422E-B684-622C820D73D2}"/>
              </a:ext>
            </a:extLst>
          </p:cNvPr>
          <p:cNvGrpSpPr/>
          <p:nvPr/>
        </p:nvGrpSpPr>
        <p:grpSpPr>
          <a:xfrm>
            <a:off x="5594379" y="4055802"/>
            <a:ext cx="5494441" cy="1664914"/>
            <a:chOff x="592697" y="4085931"/>
            <a:chExt cx="5494441" cy="1664914"/>
          </a:xfrm>
        </p:grpSpPr>
        <p:grpSp>
          <p:nvGrpSpPr>
            <p:cNvPr id="13" name="Groupe 12">
              <a:extLst>
                <a:ext uri="{FF2B5EF4-FFF2-40B4-BE49-F238E27FC236}">
                  <a16:creationId xmlns:a16="http://schemas.microsoft.com/office/drawing/2014/main" id="{FF5844AA-D7FC-4D2F-9937-405F397BDA69}"/>
                </a:ext>
              </a:extLst>
            </p:cNvPr>
            <p:cNvGrpSpPr/>
            <p:nvPr/>
          </p:nvGrpSpPr>
          <p:grpSpPr>
            <a:xfrm>
              <a:off x="592697" y="4085931"/>
              <a:ext cx="5494441" cy="576000"/>
              <a:chOff x="592697" y="4085931"/>
              <a:chExt cx="5494441" cy="576000"/>
            </a:xfrm>
          </p:grpSpPr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3C55633C-E5CF-4103-B480-C4985198CA55}"/>
                  </a:ext>
                </a:extLst>
              </p:cNvPr>
              <p:cNvSpPr txBox="1"/>
              <p:nvPr/>
            </p:nvSpPr>
            <p:spPr>
              <a:xfrm>
                <a:off x="592697" y="4085931"/>
                <a:ext cx="2700000" cy="576000"/>
              </a:xfrm>
              <a:prstGeom prst="rect">
                <a:avLst/>
              </a:prstGeom>
              <a:solidFill>
                <a:srgbClr val="E9C561"/>
              </a:solidFill>
              <a:ln w="19050">
                <a:solidFill>
                  <a:schemeClr val="bg2">
                    <a:lumMod val="50000"/>
                  </a:schemeClr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de-DE" b="1" dirty="0"/>
                  <a:t>view for layer 1</a:t>
                </a:r>
                <a:br>
                  <a:rPr lang="de-DE" sz="1600" dirty="0"/>
                </a:br>
                <a:r>
                  <a:rPr lang="de-DE" sz="1600" dirty="0"/>
                  <a:t>ab03_l1_to_ab_avi01_l1_map</a:t>
                </a:r>
                <a:endParaRPr lang="en-GB" sz="1600" dirty="0"/>
              </a:p>
            </p:txBody>
          </p:sp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3B929AF0-FBAF-4F31-8CC8-1536E0F8D185}"/>
                  </a:ext>
                </a:extLst>
              </p:cNvPr>
              <p:cNvSpPr txBox="1"/>
              <p:nvPr/>
            </p:nvSpPr>
            <p:spPr>
              <a:xfrm>
                <a:off x="3387138" y="4085931"/>
                <a:ext cx="2700000" cy="576000"/>
              </a:xfrm>
              <a:prstGeom prst="rect">
                <a:avLst/>
              </a:prstGeom>
              <a:solidFill>
                <a:srgbClr val="E9C561"/>
              </a:solidFill>
              <a:ln w="19050">
                <a:solidFill>
                  <a:schemeClr val="bg2">
                    <a:lumMod val="50000"/>
                  </a:schemeClr>
                </a:solidFill>
              </a:ln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de-DE" b="1" dirty="0"/>
                  <a:t>view for layer 2</a:t>
                </a:r>
                <a:r>
                  <a:rPr lang="de-DE" sz="1600" dirty="0"/>
                  <a:t> ab03_l2_to_ab_avi01_l1_map</a:t>
                </a:r>
                <a:endParaRPr lang="en-GB" sz="1600" dirty="0"/>
              </a:p>
            </p:txBody>
          </p:sp>
        </p:grpSp>
        <p:cxnSp>
          <p:nvCxnSpPr>
            <p:cNvPr id="52" name="Connecteur droit avec flèche 51">
              <a:extLst>
                <a:ext uri="{FF2B5EF4-FFF2-40B4-BE49-F238E27FC236}">
                  <a16:creationId xmlns:a16="http://schemas.microsoft.com/office/drawing/2014/main" id="{A3D14383-D910-496A-A171-C0F53BD94BF8}"/>
                </a:ext>
              </a:extLst>
            </p:cNvPr>
            <p:cNvCxnSpPr>
              <a:cxnSpLocks/>
              <a:stCxn id="7" idx="0"/>
              <a:endCxn id="8" idx="2"/>
            </p:cNvCxnSpPr>
            <p:nvPr/>
          </p:nvCxnSpPr>
          <p:spPr>
            <a:xfrm flipH="1" flipV="1">
              <a:off x="1942697" y="4661931"/>
              <a:ext cx="1397220" cy="225415"/>
            </a:xfrm>
            <a:prstGeom prst="straightConnector1">
              <a:avLst/>
            </a:prstGeom>
            <a:ln w="5715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eur droit avec flèche 55">
              <a:extLst>
                <a:ext uri="{FF2B5EF4-FFF2-40B4-BE49-F238E27FC236}">
                  <a16:creationId xmlns:a16="http://schemas.microsoft.com/office/drawing/2014/main" id="{80BC5CAA-E2ED-4886-9A71-905CB300F5AB}"/>
                </a:ext>
              </a:extLst>
            </p:cNvPr>
            <p:cNvCxnSpPr>
              <a:cxnSpLocks/>
              <a:stCxn id="23" idx="2"/>
              <a:endCxn id="7" idx="0"/>
            </p:cNvCxnSpPr>
            <p:nvPr/>
          </p:nvCxnSpPr>
          <p:spPr>
            <a:xfrm flipH="1">
              <a:off x="3339917" y="4661931"/>
              <a:ext cx="1397221" cy="225415"/>
            </a:xfrm>
            <a:prstGeom prst="straightConnector1">
              <a:avLst/>
            </a:prstGeom>
            <a:ln w="57150">
              <a:solidFill>
                <a:schemeClr val="bg2">
                  <a:lumMod val="50000"/>
                </a:schemeClr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E9070072-1936-400B-BA64-017399636A46}"/>
                </a:ext>
              </a:extLst>
            </p:cNvPr>
            <p:cNvSpPr/>
            <p:nvPr/>
          </p:nvSpPr>
          <p:spPr>
            <a:xfrm>
              <a:off x="1433001" y="4887346"/>
              <a:ext cx="3813832" cy="633180"/>
            </a:xfrm>
            <a:prstGeom prst="roundRect">
              <a:avLst/>
            </a:prstGeom>
            <a:solidFill>
              <a:srgbClr val="83971D"/>
            </a:solidFill>
            <a:ln>
              <a:noFill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sz="2400" dirty="0" err="1">
                  <a:solidFill>
                    <a:schemeClr val="bg1"/>
                  </a:solidFill>
                </a:rPr>
                <a:t>TT_CreateMappingview</a:t>
              </a:r>
              <a:r>
                <a:rPr lang="fr-CA" sz="2400" dirty="0">
                  <a:solidFill>
                    <a:schemeClr val="bg1"/>
                  </a:solidFill>
                </a:rPr>
                <a:t>()</a:t>
              </a:r>
              <a:endParaRPr lang="en-GB" sz="2400" dirty="0">
                <a:solidFill>
                  <a:schemeClr val="bg1"/>
                </a:solidFill>
              </a:endParaRPr>
            </a:p>
          </p:txBody>
        </p:sp>
        <p:cxnSp>
          <p:nvCxnSpPr>
            <p:cNvPr id="44" name="Connecteur droit avec flèche 43">
              <a:extLst>
                <a:ext uri="{FF2B5EF4-FFF2-40B4-BE49-F238E27FC236}">
                  <a16:creationId xmlns:a16="http://schemas.microsoft.com/office/drawing/2014/main" id="{D8251F2D-B8AC-4441-AF62-FAB45783D64D}"/>
                </a:ext>
              </a:extLst>
            </p:cNvPr>
            <p:cNvCxnSpPr>
              <a:cxnSpLocks/>
              <a:endCxn id="7" idx="2"/>
            </p:cNvCxnSpPr>
            <p:nvPr/>
          </p:nvCxnSpPr>
          <p:spPr>
            <a:xfrm flipV="1">
              <a:off x="2196917" y="5520526"/>
              <a:ext cx="1143000" cy="230319"/>
            </a:xfrm>
            <a:prstGeom prst="straightConnector1">
              <a:avLst/>
            </a:prstGeom>
            <a:ln w="5715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eur droit avec flèche 45">
              <a:extLst>
                <a:ext uri="{FF2B5EF4-FFF2-40B4-BE49-F238E27FC236}">
                  <a16:creationId xmlns:a16="http://schemas.microsoft.com/office/drawing/2014/main" id="{1DD0C3D4-D0AE-4648-89BC-3BC76780D990}"/>
                </a:ext>
              </a:extLst>
            </p:cNvPr>
            <p:cNvCxnSpPr>
              <a:cxnSpLocks/>
              <a:endCxn id="7" idx="2"/>
            </p:cNvCxnSpPr>
            <p:nvPr/>
          </p:nvCxnSpPr>
          <p:spPr>
            <a:xfrm flipH="1" flipV="1">
              <a:off x="3339917" y="5520526"/>
              <a:ext cx="1143000" cy="230319"/>
            </a:xfrm>
            <a:prstGeom prst="straightConnector1">
              <a:avLst/>
            </a:prstGeom>
            <a:ln w="5715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9" name="Ellipse 98">
            <a:extLst>
              <a:ext uri="{FF2B5EF4-FFF2-40B4-BE49-F238E27FC236}">
                <a16:creationId xmlns:a16="http://schemas.microsoft.com/office/drawing/2014/main" id="{01242566-11EE-463B-B967-6FC3FB33A098}"/>
              </a:ext>
            </a:extLst>
          </p:cNvPr>
          <p:cNvSpPr/>
          <p:nvPr/>
        </p:nvSpPr>
        <p:spPr>
          <a:xfrm>
            <a:off x="4733287" y="3758067"/>
            <a:ext cx="558321" cy="55832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800" b="1" dirty="0"/>
              <a:t>1</a:t>
            </a:r>
            <a:endParaRPr lang="en-GB" sz="2800" b="1" dirty="0"/>
          </a:p>
        </p:txBody>
      </p:sp>
      <p:graphicFrame>
        <p:nvGraphicFramePr>
          <p:cNvPr id="64" name="Tableau 2">
            <a:extLst>
              <a:ext uri="{FF2B5EF4-FFF2-40B4-BE49-F238E27FC236}">
                <a16:creationId xmlns:a16="http://schemas.microsoft.com/office/drawing/2014/main" id="{7B3FC02C-9E25-48A3-B50C-DA3641287A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0794124"/>
              </p:ext>
            </p:extLst>
          </p:nvPr>
        </p:nvGraphicFramePr>
        <p:xfrm>
          <a:off x="565685" y="5056432"/>
          <a:ext cx="4377882" cy="1463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331">
                  <a:extLst>
                    <a:ext uri="{9D8B030D-6E8A-4147-A177-3AD203B41FA5}">
                      <a16:colId xmlns:a16="http://schemas.microsoft.com/office/drawing/2014/main" val="2479692713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3417803258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2373036711"/>
                    </a:ext>
                  </a:extLst>
                </a:gridCol>
                <a:gridCol w="927100">
                  <a:extLst>
                    <a:ext uri="{9D8B030D-6E8A-4147-A177-3AD203B41FA5}">
                      <a16:colId xmlns:a16="http://schemas.microsoft.com/office/drawing/2014/main" val="1452312875"/>
                    </a:ext>
                  </a:extLst>
                </a:gridCol>
                <a:gridCol w="331051">
                  <a:extLst>
                    <a:ext uri="{9D8B030D-6E8A-4147-A177-3AD203B41FA5}">
                      <a16:colId xmlns:a16="http://schemas.microsoft.com/office/drawing/2014/main" val="1599457183"/>
                    </a:ext>
                  </a:extLst>
                </a:gridCol>
              </a:tblGrid>
              <a:tr h="287001">
                <a:tc gridSpan="5">
                  <a:txBody>
                    <a:bodyPr/>
                    <a:lstStyle/>
                    <a:p>
                      <a:pPr algn="ctr"/>
                      <a:r>
                        <a:rPr lang="fr-CA" sz="1600" dirty="0" err="1">
                          <a:solidFill>
                            <a:schemeClr val="tx1"/>
                          </a:solidFill>
                        </a:rPr>
                        <a:t>layer_metadata</a:t>
                      </a:r>
                      <a:r>
                        <a:rPr lang="fr-CA" sz="1600" dirty="0">
                          <a:solidFill>
                            <a:schemeClr val="tx1"/>
                          </a:solidFill>
                        </a:rPr>
                        <a:t> table</a:t>
                      </a:r>
                      <a:endParaRPr lang="en-GB" sz="16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C5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E9C56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C56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C56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6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C5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631956"/>
                  </a:ext>
                </a:extLst>
              </a:tr>
              <a:tr h="287001">
                <a:tc>
                  <a:txBody>
                    <a:bodyPr/>
                    <a:lstStyle/>
                    <a:p>
                      <a:pPr algn="ctr"/>
                      <a:r>
                        <a:rPr lang="fr-CA" sz="1400" dirty="0" err="1">
                          <a:solidFill>
                            <a:schemeClr val="tx1"/>
                          </a:solidFill>
                        </a:rPr>
                        <a:t>inventory_id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layer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 err="1">
                          <a:solidFill>
                            <a:schemeClr val="tx1"/>
                          </a:solidFill>
                        </a:rPr>
                        <a:t>casfri_table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species_1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775075"/>
                  </a:ext>
                </a:extLst>
              </a:tr>
              <a:tr h="287001"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AB_AVI01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species_1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211516"/>
                  </a:ext>
                </a:extLst>
              </a:tr>
              <a:tr h="287001"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AB03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</a:rPr>
                        <a:t>CAS ECO DST LYR GEO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sp1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331112"/>
                  </a:ext>
                </a:extLst>
              </a:tr>
              <a:tr h="287001"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AB03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LYR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usp1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923161"/>
                  </a:ext>
                </a:extLst>
              </a:tr>
            </a:tbl>
          </a:graphicData>
        </a:graphic>
      </p:graphicFrame>
      <p:cxnSp>
        <p:nvCxnSpPr>
          <p:cNvPr id="65" name="Connecteur droit avec flèche 64">
            <a:extLst>
              <a:ext uri="{FF2B5EF4-FFF2-40B4-BE49-F238E27FC236}">
                <a16:creationId xmlns:a16="http://schemas.microsoft.com/office/drawing/2014/main" id="{0A311010-5864-4DA9-A7C9-17BE586274D8}"/>
              </a:ext>
            </a:extLst>
          </p:cNvPr>
          <p:cNvCxnSpPr>
            <a:cxnSpLocks/>
          </p:cNvCxnSpPr>
          <p:nvPr/>
        </p:nvCxnSpPr>
        <p:spPr>
          <a:xfrm flipH="1" flipV="1">
            <a:off x="3962137" y="4406175"/>
            <a:ext cx="2472546" cy="646652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avec flèche 65">
            <a:extLst>
              <a:ext uri="{FF2B5EF4-FFF2-40B4-BE49-F238E27FC236}">
                <a16:creationId xmlns:a16="http://schemas.microsoft.com/office/drawing/2014/main" id="{B15639DB-385C-4915-9D54-2904DD5665F6}"/>
              </a:ext>
            </a:extLst>
          </p:cNvPr>
          <p:cNvCxnSpPr>
            <a:cxnSpLocks/>
            <a:endCxn id="64" idx="3"/>
          </p:cNvCxnSpPr>
          <p:nvPr/>
        </p:nvCxnSpPr>
        <p:spPr>
          <a:xfrm flipH="1">
            <a:off x="4943567" y="5210056"/>
            <a:ext cx="1491116" cy="578298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au 2">
            <a:extLst>
              <a:ext uri="{FF2B5EF4-FFF2-40B4-BE49-F238E27FC236}">
                <a16:creationId xmlns:a16="http://schemas.microsoft.com/office/drawing/2014/main" id="{42F71E7F-A0BD-4F40-A2E0-8BA43AC47E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951031"/>
              </p:ext>
            </p:extLst>
          </p:nvPr>
        </p:nvGraphicFramePr>
        <p:xfrm>
          <a:off x="1052309" y="3710930"/>
          <a:ext cx="3376411" cy="11768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2543">
                  <a:extLst>
                    <a:ext uri="{9D8B030D-6E8A-4147-A177-3AD203B41FA5}">
                      <a16:colId xmlns:a16="http://schemas.microsoft.com/office/drawing/2014/main" val="2479692713"/>
                    </a:ext>
                  </a:extLst>
                </a:gridCol>
                <a:gridCol w="1442748">
                  <a:extLst>
                    <a:ext uri="{9D8B030D-6E8A-4147-A177-3AD203B41FA5}">
                      <a16:colId xmlns:a16="http://schemas.microsoft.com/office/drawing/2014/main" val="3417803258"/>
                    </a:ext>
                  </a:extLst>
                </a:gridCol>
                <a:gridCol w="771120">
                  <a:extLst>
                    <a:ext uri="{9D8B030D-6E8A-4147-A177-3AD203B41FA5}">
                      <a16:colId xmlns:a16="http://schemas.microsoft.com/office/drawing/2014/main" val="3403410583"/>
                    </a:ext>
                  </a:extLst>
                </a:gridCol>
              </a:tblGrid>
              <a:tr h="287001">
                <a:tc gridSpan="3">
                  <a:txBody>
                    <a:bodyPr/>
                    <a:lstStyle/>
                    <a:p>
                      <a:pPr algn="ctr"/>
                      <a:r>
                        <a:rPr lang="fr-CA" sz="1600" dirty="0" err="1">
                          <a:solidFill>
                            <a:schemeClr val="tx1"/>
                          </a:solidFill>
                        </a:rPr>
                        <a:t>inventory_metadata</a:t>
                      </a:r>
                      <a:r>
                        <a:rPr lang="fr-CA" sz="1600" dirty="0">
                          <a:solidFill>
                            <a:schemeClr val="tx1"/>
                          </a:solidFill>
                        </a:rPr>
                        <a:t> table</a:t>
                      </a:r>
                      <a:endParaRPr lang="en-GB" sz="16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C5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E9C56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6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C5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631956"/>
                  </a:ext>
                </a:extLst>
              </a:tr>
              <a:tr h="287001">
                <a:tc>
                  <a:txBody>
                    <a:bodyPr/>
                    <a:lstStyle/>
                    <a:p>
                      <a:pPr algn="ctr"/>
                      <a:r>
                        <a:rPr lang="fr-CA" sz="1400" dirty="0" err="1">
                          <a:solidFill>
                            <a:schemeClr val="tx1"/>
                          </a:solidFill>
                        </a:rPr>
                        <a:t>inventory_id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 err="1">
                          <a:solidFill>
                            <a:schemeClr val="tx1"/>
                          </a:solidFill>
                        </a:rPr>
                        <a:t>standard_id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775075"/>
                  </a:ext>
                </a:extLst>
              </a:tr>
              <a:tr h="287001"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AB03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AVI01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20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211516"/>
                  </a:ext>
                </a:extLst>
              </a:tr>
              <a:tr h="287001"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BC08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VRI01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331112"/>
                  </a:ext>
                </a:extLst>
              </a:tr>
            </a:tbl>
          </a:graphicData>
        </a:graphic>
      </p:graphicFrame>
      <p:graphicFrame>
        <p:nvGraphicFramePr>
          <p:cNvPr id="82" name="Tableau 2">
            <a:extLst>
              <a:ext uri="{FF2B5EF4-FFF2-40B4-BE49-F238E27FC236}">
                <a16:creationId xmlns:a16="http://schemas.microsoft.com/office/drawing/2014/main" id="{D8AC698D-7EFE-4310-A603-753F02F1D5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7340285"/>
              </p:ext>
            </p:extLst>
          </p:nvPr>
        </p:nvGraphicFramePr>
        <p:xfrm>
          <a:off x="6451971" y="5640890"/>
          <a:ext cx="3813832" cy="889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876">
                  <a:extLst>
                    <a:ext uri="{9D8B030D-6E8A-4147-A177-3AD203B41FA5}">
                      <a16:colId xmlns:a16="http://schemas.microsoft.com/office/drawing/2014/main" val="485956849"/>
                    </a:ext>
                  </a:extLst>
                </a:gridCol>
                <a:gridCol w="1291876">
                  <a:extLst>
                    <a:ext uri="{9D8B030D-6E8A-4147-A177-3AD203B41FA5}">
                      <a16:colId xmlns:a16="http://schemas.microsoft.com/office/drawing/2014/main" val="2479692713"/>
                    </a:ext>
                  </a:extLst>
                </a:gridCol>
                <a:gridCol w="1230080">
                  <a:extLst>
                    <a:ext uri="{9D8B030D-6E8A-4147-A177-3AD203B41FA5}">
                      <a16:colId xmlns:a16="http://schemas.microsoft.com/office/drawing/2014/main" val="3417803258"/>
                    </a:ext>
                  </a:extLst>
                </a:gridCol>
              </a:tblGrid>
              <a:tr h="287001">
                <a:tc gridSpan="3"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converted raw source inventory table (ab03)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C56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converted raw source inventory table (ab03)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C5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E9C5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631956"/>
                  </a:ext>
                </a:extLst>
              </a:tr>
              <a:tr h="287001">
                <a:tc>
                  <a:txBody>
                    <a:bodyPr/>
                    <a:lstStyle/>
                    <a:p>
                      <a:pPr algn="ctr"/>
                      <a:r>
                        <a:rPr lang="fr-CA" sz="1400" dirty="0" err="1">
                          <a:solidFill>
                            <a:schemeClr val="tx1"/>
                          </a:solidFill>
                        </a:rPr>
                        <a:t>stand_id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sp1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usp1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775075"/>
                  </a:ext>
                </a:extLst>
              </a:tr>
              <a:tr h="287001"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211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0808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4B6E7328-AE26-4126-9E7D-DABCF269FE53}"/>
              </a:ext>
            </a:extLst>
          </p:cNvPr>
          <p:cNvSpPr/>
          <p:nvPr/>
        </p:nvSpPr>
        <p:spPr>
          <a:xfrm>
            <a:off x="443505" y="2356445"/>
            <a:ext cx="3564000" cy="896006"/>
          </a:xfrm>
          <a:prstGeom prst="roundRect">
            <a:avLst/>
          </a:prstGeom>
          <a:solidFill>
            <a:srgbClr val="83971D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000" dirty="0">
                <a:solidFill>
                  <a:schemeClr val="bg1"/>
                </a:solidFill>
              </a:rPr>
              <a:t>TT_Translate_AB03_CAS(</a:t>
            </a:r>
            <a:r>
              <a:rPr lang="fr-CA" sz="2000" dirty="0" err="1">
                <a:solidFill>
                  <a:schemeClr val="bg1"/>
                </a:solidFill>
              </a:rPr>
              <a:t>view</a:t>
            </a:r>
            <a:r>
              <a:rPr lang="fr-CA" sz="2000" dirty="0">
                <a:solidFill>
                  <a:schemeClr val="bg1"/>
                </a:solidFill>
              </a:rPr>
              <a:t>)</a:t>
            </a:r>
            <a:br>
              <a:rPr lang="fr-CA" sz="2000" dirty="0">
                <a:solidFill>
                  <a:schemeClr val="bg1"/>
                </a:solidFill>
              </a:rPr>
            </a:br>
            <a:r>
              <a:rPr lang="fr-CA" sz="1400" dirty="0">
                <a:solidFill>
                  <a:schemeClr val="bg1"/>
                </a:solidFill>
              </a:rPr>
              <a:t>…</a:t>
            </a:r>
            <a:br>
              <a:rPr lang="fr-CA" sz="2000" dirty="0">
                <a:solidFill>
                  <a:schemeClr val="bg1"/>
                </a:solidFill>
              </a:rPr>
            </a:br>
            <a:r>
              <a:rPr lang="fr-CA" sz="2000" dirty="0">
                <a:solidFill>
                  <a:schemeClr val="bg1"/>
                </a:solidFill>
              </a:rPr>
              <a:t>TT_Translate_AB03_GEO(</a:t>
            </a:r>
            <a:r>
              <a:rPr lang="fr-CA" sz="2000" dirty="0" err="1">
                <a:solidFill>
                  <a:schemeClr val="bg1"/>
                </a:solidFill>
              </a:rPr>
              <a:t>view</a:t>
            </a:r>
            <a:r>
              <a:rPr lang="fr-CA" sz="2000" dirty="0">
                <a:solidFill>
                  <a:schemeClr val="bg1"/>
                </a:solidFill>
              </a:rPr>
              <a:t>)</a:t>
            </a:r>
            <a:endParaRPr lang="en-GB" sz="2000" dirty="0">
              <a:solidFill>
                <a:schemeClr val="bg1"/>
              </a:solidFill>
            </a:endParaRPr>
          </a:p>
        </p:txBody>
      </p:sp>
      <p:cxnSp>
        <p:nvCxnSpPr>
          <p:cNvPr id="58" name="Connecteur droit avec flèche 57">
            <a:extLst>
              <a:ext uri="{FF2B5EF4-FFF2-40B4-BE49-F238E27FC236}">
                <a16:creationId xmlns:a16="http://schemas.microsoft.com/office/drawing/2014/main" id="{588E0B3D-2595-4A01-B637-AC57F6138A97}"/>
              </a:ext>
            </a:extLst>
          </p:cNvPr>
          <p:cNvCxnSpPr>
            <a:cxnSpLocks/>
            <a:stCxn id="27" idx="0"/>
            <a:endCxn id="35" idx="2"/>
          </p:cNvCxnSpPr>
          <p:nvPr/>
        </p:nvCxnSpPr>
        <p:spPr>
          <a:xfrm flipH="1" flipV="1">
            <a:off x="2225505" y="3252451"/>
            <a:ext cx="3902149" cy="545176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92148045-F1A5-41F9-ADB8-CD52E3D0D868}"/>
              </a:ext>
            </a:extLst>
          </p:cNvPr>
          <p:cNvSpPr txBox="1"/>
          <p:nvPr/>
        </p:nvSpPr>
        <p:spPr>
          <a:xfrm>
            <a:off x="443505" y="244341"/>
            <a:ext cx="3564000" cy="783698"/>
          </a:xfrm>
          <a:prstGeom prst="rect">
            <a:avLst/>
          </a:prstGeom>
          <a:solidFill>
            <a:srgbClr val="E9C561"/>
          </a:solidFill>
          <a:ln w="19050">
            <a:solidFill>
              <a:schemeClr val="bg2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fr-CA" sz="2000" b="1" dirty="0"/>
              <a:t>input translation tables</a:t>
            </a:r>
          </a:p>
          <a:p>
            <a:pPr algn="ctr"/>
            <a:r>
              <a:rPr lang="fr-CA" sz="1400" dirty="0"/>
              <a:t>ab_avi01_cas, ab_avi01_dst, ab_avi01_eco, ab_avi01_lyr, ab_avi01_nfl, ab_avi01_geo</a:t>
            </a:r>
            <a:endParaRPr lang="en-GB" sz="1400" dirty="0"/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27AED0FC-905D-4795-863B-56D13777FB06}"/>
              </a:ext>
            </a:extLst>
          </p:cNvPr>
          <p:cNvSpPr/>
          <p:nvPr/>
        </p:nvSpPr>
        <p:spPr>
          <a:xfrm>
            <a:off x="443505" y="1342255"/>
            <a:ext cx="3564000" cy="627017"/>
          </a:xfrm>
          <a:prstGeom prst="roundRect">
            <a:avLst/>
          </a:prstGeom>
          <a:solidFill>
            <a:srgbClr val="83971D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000" dirty="0" err="1">
                <a:solidFill>
                  <a:schemeClr val="bg1"/>
                </a:solidFill>
              </a:rPr>
              <a:t>TT_Prepare</a:t>
            </a:r>
            <a:r>
              <a:rPr lang="fr-CA" sz="2000" dirty="0">
                <a:solidFill>
                  <a:schemeClr val="bg1"/>
                </a:solidFill>
              </a:rPr>
              <a:t>(</a:t>
            </a:r>
            <a:r>
              <a:rPr lang="fr-CA" sz="2000" dirty="0" err="1">
                <a:solidFill>
                  <a:schemeClr val="bg1"/>
                </a:solidFill>
              </a:rPr>
              <a:t>translation_table</a:t>
            </a:r>
            <a:r>
              <a:rPr lang="fr-CA" sz="2000" dirty="0">
                <a:solidFill>
                  <a:schemeClr val="bg1"/>
                </a:solidFill>
              </a:rPr>
              <a:t>)</a:t>
            </a:r>
            <a:endParaRPr lang="en-GB" sz="2000" dirty="0">
              <a:solidFill>
                <a:schemeClr val="bg1"/>
              </a:solidFill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518E24C7-7A3B-4CF5-B2DE-47077D77763A}"/>
              </a:ext>
            </a:extLst>
          </p:cNvPr>
          <p:cNvSpPr txBox="1"/>
          <p:nvPr/>
        </p:nvSpPr>
        <p:spPr>
          <a:xfrm>
            <a:off x="416234" y="3797627"/>
            <a:ext cx="11422839" cy="2731086"/>
          </a:xfrm>
          <a:prstGeom prst="rect">
            <a:avLst/>
          </a:prstGeom>
          <a:solidFill>
            <a:srgbClr val="F3E0AB"/>
          </a:solidFill>
        </p:spPr>
        <p:txBody>
          <a:bodyPr wrap="square" rtlCol="0">
            <a:noAutofit/>
          </a:bodyPr>
          <a:lstStyle/>
          <a:p>
            <a:r>
              <a:rPr lang="fr-CA" sz="2400" b="1" dirty="0"/>
              <a:t>                                              input </a:t>
            </a:r>
            <a:r>
              <a:rPr lang="fr-CA" sz="2400" b="1" dirty="0" err="1"/>
              <a:t>inventory</a:t>
            </a:r>
            <a:r>
              <a:rPr lang="fr-CA" sz="2400" b="1" dirty="0"/>
              <a:t> data tables</a:t>
            </a:r>
            <a:endParaRPr lang="en-GB" sz="2400" b="1" dirty="0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68EA8242-6B6A-4EB3-90B2-B89A67E093C2}"/>
              </a:ext>
            </a:extLst>
          </p:cNvPr>
          <p:cNvSpPr txBox="1"/>
          <p:nvPr/>
        </p:nvSpPr>
        <p:spPr>
          <a:xfrm>
            <a:off x="4813618" y="2420985"/>
            <a:ext cx="2906741" cy="78369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fr-CA" sz="2000" b="1" dirty="0"/>
              <a:t>output </a:t>
            </a:r>
            <a:r>
              <a:rPr lang="fr-CA" sz="2000" b="1" dirty="0" err="1"/>
              <a:t>translated</a:t>
            </a:r>
            <a:r>
              <a:rPr lang="fr-CA" sz="2000" b="1" dirty="0"/>
              <a:t> tables</a:t>
            </a:r>
          </a:p>
          <a:p>
            <a:pPr algn="ctr"/>
            <a:r>
              <a:rPr lang="fr-CA" sz="1600" dirty="0" err="1"/>
              <a:t>cas_all</a:t>
            </a:r>
            <a:r>
              <a:rPr lang="fr-CA" sz="1600" dirty="0"/>
              <a:t>, </a:t>
            </a:r>
            <a:r>
              <a:rPr lang="fr-CA" sz="1600" dirty="0" err="1"/>
              <a:t>dst_all</a:t>
            </a:r>
            <a:r>
              <a:rPr lang="fr-CA" sz="1600" dirty="0"/>
              <a:t>, </a:t>
            </a:r>
            <a:r>
              <a:rPr lang="fr-CA" sz="1600" dirty="0" err="1"/>
              <a:t>eco_all</a:t>
            </a:r>
            <a:r>
              <a:rPr lang="fr-CA" sz="1600" dirty="0"/>
              <a:t>, </a:t>
            </a:r>
            <a:r>
              <a:rPr lang="fr-CA" sz="1600" dirty="0" err="1"/>
              <a:t>lyr_all</a:t>
            </a:r>
            <a:r>
              <a:rPr lang="fr-CA" sz="1600" dirty="0"/>
              <a:t>, </a:t>
            </a:r>
            <a:r>
              <a:rPr lang="fr-CA" sz="1600" dirty="0" err="1"/>
              <a:t>nfl_all</a:t>
            </a:r>
            <a:r>
              <a:rPr lang="fr-CA" sz="1600" dirty="0"/>
              <a:t>, </a:t>
            </a:r>
            <a:r>
              <a:rPr lang="fr-CA" sz="1600" dirty="0" err="1"/>
              <a:t>geo_all</a:t>
            </a:r>
            <a:endParaRPr lang="en-GB" sz="1600" dirty="0"/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7AA2E1AE-F490-4227-9B54-2BC2538BD385}"/>
              </a:ext>
            </a:extLst>
          </p:cNvPr>
          <p:cNvCxnSpPr>
            <a:cxnSpLocks/>
            <a:stCxn id="29" idx="2"/>
            <a:endCxn id="34" idx="0"/>
          </p:cNvCxnSpPr>
          <p:nvPr/>
        </p:nvCxnSpPr>
        <p:spPr>
          <a:xfrm>
            <a:off x="2225505" y="1028039"/>
            <a:ext cx="0" cy="314216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FEED041D-072D-45C9-8565-3D5E08191F1A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>
            <a:off x="2225505" y="1969272"/>
            <a:ext cx="0" cy="387173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avec flèche 61">
            <a:extLst>
              <a:ext uri="{FF2B5EF4-FFF2-40B4-BE49-F238E27FC236}">
                <a16:creationId xmlns:a16="http://schemas.microsoft.com/office/drawing/2014/main" id="{8CC8ACF5-1EC6-4634-8980-2725FF212CE8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>
          <a:xfrm>
            <a:off x="4007505" y="2804448"/>
            <a:ext cx="806113" cy="8386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eur droit avec flèche 82">
            <a:extLst>
              <a:ext uri="{FF2B5EF4-FFF2-40B4-BE49-F238E27FC236}">
                <a16:creationId xmlns:a16="http://schemas.microsoft.com/office/drawing/2014/main" id="{1F813C53-B34B-4270-A06C-DA2D13EEAC7A}"/>
              </a:ext>
            </a:extLst>
          </p:cNvPr>
          <p:cNvCxnSpPr>
            <a:cxnSpLocks/>
            <a:stCxn id="36" idx="0"/>
            <a:endCxn id="85" idx="2"/>
          </p:cNvCxnSpPr>
          <p:nvPr/>
        </p:nvCxnSpPr>
        <p:spPr>
          <a:xfrm flipV="1">
            <a:off x="6266989" y="2066206"/>
            <a:ext cx="0" cy="354779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 : coins arrondis 83">
            <a:extLst>
              <a:ext uri="{FF2B5EF4-FFF2-40B4-BE49-F238E27FC236}">
                <a16:creationId xmlns:a16="http://schemas.microsoft.com/office/drawing/2014/main" id="{19AA910A-CF5A-49E1-9C54-B74B80DA312A}"/>
              </a:ext>
            </a:extLst>
          </p:cNvPr>
          <p:cNvSpPr/>
          <p:nvPr/>
        </p:nvSpPr>
        <p:spPr>
          <a:xfrm>
            <a:off x="4394519" y="329287"/>
            <a:ext cx="3733635" cy="627017"/>
          </a:xfrm>
          <a:prstGeom prst="roundRect">
            <a:avLst/>
          </a:prstGeom>
          <a:solidFill>
            <a:srgbClr val="83971D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dirty="0" err="1">
                <a:solidFill>
                  <a:schemeClr val="bg1"/>
                </a:solidFill>
              </a:rPr>
              <a:t>TT_ProduceInvGeoHistory</a:t>
            </a:r>
            <a:r>
              <a:rPr lang="fr-CA" sz="2400" dirty="0">
                <a:solidFill>
                  <a:schemeClr val="bg1"/>
                </a:solidFill>
              </a:rPr>
              <a:t>()</a:t>
            </a:r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9D3FD4DA-0D04-44DE-8E60-7DFA3F913499}"/>
              </a:ext>
            </a:extLst>
          </p:cNvPr>
          <p:cNvSpPr txBox="1"/>
          <p:nvPr/>
        </p:nvSpPr>
        <p:spPr>
          <a:xfrm>
            <a:off x="4813618" y="1282508"/>
            <a:ext cx="2906741" cy="78369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fr-CA" sz="2000" b="1" dirty="0"/>
              <a:t>output flat table</a:t>
            </a:r>
          </a:p>
          <a:p>
            <a:pPr algn="ctr"/>
            <a:r>
              <a:rPr lang="en-GB" sz="1400" dirty="0" err="1"/>
              <a:t>cas_flat_all_layers_same_row</a:t>
            </a:r>
            <a:endParaRPr lang="en-GB" sz="1400" dirty="0"/>
          </a:p>
        </p:txBody>
      </p:sp>
      <p:sp>
        <p:nvSpPr>
          <p:cNvPr id="100" name="Ellipse 99">
            <a:extLst>
              <a:ext uri="{FF2B5EF4-FFF2-40B4-BE49-F238E27FC236}">
                <a16:creationId xmlns:a16="http://schemas.microsoft.com/office/drawing/2014/main" id="{FBB50B8A-231F-4103-A471-9856B1C423B5}"/>
              </a:ext>
            </a:extLst>
          </p:cNvPr>
          <p:cNvSpPr/>
          <p:nvPr/>
        </p:nvSpPr>
        <p:spPr>
          <a:xfrm>
            <a:off x="33932" y="1370549"/>
            <a:ext cx="558321" cy="55832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800" b="1" dirty="0"/>
              <a:t>2</a:t>
            </a:r>
            <a:endParaRPr lang="en-GB" sz="2800" b="1" dirty="0"/>
          </a:p>
        </p:txBody>
      </p:sp>
      <p:sp>
        <p:nvSpPr>
          <p:cNvPr id="103" name="Ellipse 102">
            <a:extLst>
              <a:ext uri="{FF2B5EF4-FFF2-40B4-BE49-F238E27FC236}">
                <a16:creationId xmlns:a16="http://schemas.microsoft.com/office/drawing/2014/main" id="{2E2C0892-9CB5-4FCC-8970-C59A70249581}"/>
              </a:ext>
            </a:extLst>
          </p:cNvPr>
          <p:cNvSpPr/>
          <p:nvPr/>
        </p:nvSpPr>
        <p:spPr>
          <a:xfrm>
            <a:off x="3794542" y="2530843"/>
            <a:ext cx="558321" cy="55832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800" b="1" dirty="0"/>
              <a:t>3</a:t>
            </a:r>
            <a:endParaRPr lang="en-GB" sz="2800" b="1" dirty="0"/>
          </a:p>
        </p:txBody>
      </p:sp>
      <p:sp>
        <p:nvSpPr>
          <p:cNvPr id="104" name="Ellipse 103">
            <a:extLst>
              <a:ext uri="{FF2B5EF4-FFF2-40B4-BE49-F238E27FC236}">
                <a16:creationId xmlns:a16="http://schemas.microsoft.com/office/drawing/2014/main" id="{5C70298B-5BFC-4D37-839D-F007BAB8D9CA}"/>
              </a:ext>
            </a:extLst>
          </p:cNvPr>
          <p:cNvSpPr/>
          <p:nvPr/>
        </p:nvSpPr>
        <p:spPr>
          <a:xfrm>
            <a:off x="5594379" y="1944287"/>
            <a:ext cx="558321" cy="55832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800" b="1" dirty="0"/>
              <a:t>4</a:t>
            </a:r>
            <a:endParaRPr lang="en-GB" sz="2800" b="1" dirty="0"/>
          </a:p>
        </p:txBody>
      </p:sp>
      <p:sp>
        <p:nvSpPr>
          <p:cNvPr id="110" name="ZoneTexte 109">
            <a:extLst>
              <a:ext uri="{FF2B5EF4-FFF2-40B4-BE49-F238E27FC236}">
                <a16:creationId xmlns:a16="http://schemas.microsoft.com/office/drawing/2014/main" id="{5707500A-F67A-4FD0-9DD3-C3889083A698}"/>
              </a:ext>
            </a:extLst>
          </p:cNvPr>
          <p:cNvSpPr txBox="1"/>
          <p:nvPr/>
        </p:nvSpPr>
        <p:spPr>
          <a:xfrm>
            <a:off x="8811959" y="329286"/>
            <a:ext cx="2448000" cy="62701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fr-CA" b="1" dirty="0"/>
              <a:t>output </a:t>
            </a:r>
            <a:r>
              <a:rPr lang="fr-CA" b="1" dirty="0" err="1"/>
              <a:t>geohistory</a:t>
            </a:r>
            <a:r>
              <a:rPr lang="fr-CA" b="1" dirty="0"/>
              <a:t> table</a:t>
            </a:r>
            <a:endParaRPr lang="en-GB" b="1" dirty="0"/>
          </a:p>
        </p:txBody>
      </p:sp>
      <p:cxnSp>
        <p:nvCxnSpPr>
          <p:cNvPr id="115" name="Connecteur droit avec flèche 114">
            <a:extLst>
              <a:ext uri="{FF2B5EF4-FFF2-40B4-BE49-F238E27FC236}">
                <a16:creationId xmlns:a16="http://schemas.microsoft.com/office/drawing/2014/main" id="{A668FD2A-5FAB-4942-9335-A0764BB762DC}"/>
              </a:ext>
            </a:extLst>
          </p:cNvPr>
          <p:cNvCxnSpPr>
            <a:cxnSpLocks/>
            <a:stCxn id="85" idx="0"/>
            <a:endCxn id="84" idx="2"/>
          </p:cNvCxnSpPr>
          <p:nvPr/>
        </p:nvCxnSpPr>
        <p:spPr>
          <a:xfrm flipH="1" flipV="1">
            <a:off x="6261337" y="956304"/>
            <a:ext cx="5652" cy="326204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eur droit avec flèche 120">
            <a:extLst>
              <a:ext uri="{FF2B5EF4-FFF2-40B4-BE49-F238E27FC236}">
                <a16:creationId xmlns:a16="http://schemas.microsoft.com/office/drawing/2014/main" id="{0145ABF2-42BA-4FF8-9794-CE012DC6D327}"/>
              </a:ext>
            </a:extLst>
          </p:cNvPr>
          <p:cNvCxnSpPr>
            <a:cxnSpLocks/>
            <a:stCxn id="84" idx="3"/>
            <a:endCxn id="110" idx="1"/>
          </p:cNvCxnSpPr>
          <p:nvPr/>
        </p:nvCxnSpPr>
        <p:spPr>
          <a:xfrm flipV="1">
            <a:off x="8128154" y="642794"/>
            <a:ext cx="683805" cy="2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ctangle : coins arrondis 123">
            <a:extLst>
              <a:ext uri="{FF2B5EF4-FFF2-40B4-BE49-F238E27FC236}">
                <a16:creationId xmlns:a16="http://schemas.microsoft.com/office/drawing/2014/main" id="{362EC4B2-876B-4DB9-B2DD-5451257C0990}"/>
              </a:ext>
            </a:extLst>
          </p:cNvPr>
          <p:cNvSpPr/>
          <p:nvPr/>
        </p:nvSpPr>
        <p:spPr>
          <a:xfrm>
            <a:off x="8232846" y="2502686"/>
            <a:ext cx="3606227" cy="627017"/>
          </a:xfrm>
          <a:prstGeom prst="roundRect">
            <a:avLst/>
          </a:prstGeom>
          <a:solidFill>
            <a:srgbClr val="83971D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000" dirty="0" err="1">
                <a:solidFill>
                  <a:schemeClr val="bg1"/>
                </a:solidFill>
              </a:rPr>
              <a:t>TT_ProduceDerivedCoverage</a:t>
            </a:r>
            <a:r>
              <a:rPr lang="fr-CA" sz="2000" dirty="0">
                <a:solidFill>
                  <a:schemeClr val="bg1"/>
                </a:solidFill>
              </a:rPr>
              <a:t>()</a:t>
            </a:r>
            <a:endParaRPr lang="en-GB" sz="2000" dirty="0">
              <a:solidFill>
                <a:schemeClr val="bg1"/>
              </a:solidFill>
            </a:endParaRP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2940A9D3-7C80-4680-872F-592ADB3DBF97}"/>
              </a:ext>
            </a:extLst>
          </p:cNvPr>
          <p:cNvSpPr txBox="1"/>
          <p:nvPr/>
        </p:nvSpPr>
        <p:spPr>
          <a:xfrm>
            <a:off x="8811959" y="1255445"/>
            <a:ext cx="2448000" cy="94382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fr-CA" sz="1600" b="1" dirty="0"/>
              <a:t>output </a:t>
            </a:r>
            <a:r>
              <a:rPr lang="fr-CA" sz="1600" b="1" dirty="0" err="1"/>
              <a:t>detailed</a:t>
            </a:r>
            <a:r>
              <a:rPr lang="fr-CA" sz="1600" b="1" dirty="0"/>
              <a:t>, </a:t>
            </a:r>
            <a:r>
              <a:rPr lang="fr-CA" sz="1600" b="1" dirty="0" err="1"/>
              <a:t>noholes</a:t>
            </a:r>
            <a:r>
              <a:rPr lang="fr-CA" sz="1600" b="1" dirty="0"/>
              <a:t>, </a:t>
            </a:r>
            <a:r>
              <a:rPr lang="fr-CA" sz="1600" b="1" dirty="0" err="1"/>
              <a:t>noislands</a:t>
            </a:r>
            <a:r>
              <a:rPr lang="fr-CA" sz="1600" b="1" dirty="0"/>
              <a:t>, </a:t>
            </a:r>
            <a:r>
              <a:rPr lang="fr-CA" sz="1600" b="1" dirty="0" err="1"/>
              <a:t>simplified</a:t>
            </a:r>
            <a:r>
              <a:rPr lang="fr-CA" sz="1600" b="1" dirty="0"/>
              <a:t> and </a:t>
            </a:r>
            <a:r>
              <a:rPr lang="fr-CA" sz="1600" b="1" dirty="0" err="1"/>
              <a:t>smoothed</a:t>
            </a:r>
            <a:r>
              <a:rPr lang="fr-CA" sz="1600" b="1" dirty="0"/>
              <a:t> </a:t>
            </a:r>
            <a:r>
              <a:rPr lang="fr-CA" sz="1600" b="1" dirty="0" err="1"/>
              <a:t>coverage</a:t>
            </a:r>
            <a:r>
              <a:rPr lang="fr-CA" sz="1600" b="1" dirty="0"/>
              <a:t> tables </a:t>
            </a:r>
            <a:endParaRPr lang="en-GB" sz="1600" b="1" dirty="0"/>
          </a:p>
        </p:txBody>
      </p:sp>
      <p:sp>
        <p:nvSpPr>
          <p:cNvPr id="98" name="Ellipse 97">
            <a:extLst>
              <a:ext uri="{FF2B5EF4-FFF2-40B4-BE49-F238E27FC236}">
                <a16:creationId xmlns:a16="http://schemas.microsoft.com/office/drawing/2014/main" id="{7EC45BBD-B4B7-43F0-BA7E-C8DF7E80FE36}"/>
              </a:ext>
            </a:extLst>
          </p:cNvPr>
          <p:cNvSpPr/>
          <p:nvPr/>
        </p:nvSpPr>
        <p:spPr>
          <a:xfrm>
            <a:off x="8002728" y="366752"/>
            <a:ext cx="558321" cy="55832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800" b="1" dirty="0"/>
              <a:t>5</a:t>
            </a:r>
            <a:endParaRPr lang="en-GB" sz="2800" b="1" dirty="0"/>
          </a:p>
        </p:txBody>
      </p:sp>
      <p:cxnSp>
        <p:nvCxnSpPr>
          <p:cNvPr id="132" name="Connecteur droit avec flèche 131">
            <a:extLst>
              <a:ext uri="{FF2B5EF4-FFF2-40B4-BE49-F238E27FC236}">
                <a16:creationId xmlns:a16="http://schemas.microsoft.com/office/drawing/2014/main" id="{FE766572-7744-41C2-89E8-7E86B7E5173D}"/>
              </a:ext>
            </a:extLst>
          </p:cNvPr>
          <p:cNvCxnSpPr>
            <a:cxnSpLocks/>
            <a:stCxn id="36" idx="3"/>
            <a:endCxn id="124" idx="1"/>
          </p:cNvCxnSpPr>
          <p:nvPr/>
        </p:nvCxnSpPr>
        <p:spPr>
          <a:xfrm>
            <a:off x="7720359" y="2812834"/>
            <a:ext cx="512487" cy="3361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eur droit avec flèche 134">
            <a:extLst>
              <a:ext uri="{FF2B5EF4-FFF2-40B4-BE49-F238E27FC236}">
                <a16:creationId xmlns:a16="http://schemas.microsoft.com/office/drawing/2014/main" id="{962D54E4-445F-44C7-98DB-73314A7B48AE}"/>
              </a:ext>
            </a:extLst>
          </p:cNvPr>
          <p:cNvCxnSpPr>
            <a:cxnSpLocks/>
            <a:stCxn id="124" idx="0"/>
            <a:endCxn id="125" idx="2"/>
          </p:cNvCxnSpPr>
          <p:nvPr/>
        </p:nvCxnSpPr>
        <p:spPr>
          <a:xfrm flipH="1" flipV="1">
            <a:off x="10035959" y="2199272"/>
            <a:ext cx="1" cy="303414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Ellipse 137">
            <a:extLst>
              <a:ext uri="{FF2B5EF4-FFF2-40B4-BE49-F238E27FC236}">
                <a16:creationId xmlns:a16="http://schemas.microsoft.com/office/drawing/2014/main" id="{9438A552-8A99-4397-AF98-C146E426D80C}"/>
              </a:ext>
            </a:extLst>
          </p:cNvPr>
          <p:cNvSpPr/>
          <p:nvPr/>
        </p:nvSpPr>
        <p:spPr>
          <a:xfrm>
            <a:off x="8540309" y="2083978"/>
            <a:ext cx="558321" cy="55832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800" b="1" dirty="0"/>
              <a:t>6</a:t>
            </a:r>
            <a:endParaRPr lang="en-GB" sz="2800" b="1" dirty="0"/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FF5844AA-D7FC-4D2F-9937-405F397BDA69}"/>
              </a:ext>
            </a:extLst>
          </p:cNvPr>
          <p:cNvGrpSpPr/>
          <p:nvPr/>
        </p:nvGrpSpPr>
        <p:grpSpPr>
          <a:xfrm>
            <a:off x="2690367" y="4260944"/>
            <a:ext cx="5494441" cy="576000"/>
            <a:chOff x="592697" y="4085931"/>
            <a:chExt cx="5494441" cy="576000"/>
          </a:xfrm>
        </p:grpSpPr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3C55633C-E5CF-4103-B480-C4985198CA55}"/>
                </a:ext>
              </a:extLst>
            </p:cNvPr>
            <p:cNvSpPr txBox="1"/>
            <p:nvPr/>
          </p:nvSpPr>
          <p:spPr>
            <a:xfrm>
              <a:off x="592697" y="4085931"/>
              <a:ext cx="2700000" cy="576000"/>
            </a:xfrm>
            <a:prstGeom prst="rect">
              <a:avLst/>
            </a:prstGeom>
            <a:solidFill>
              <a:srgbClr val="E9C561"/>
            </a:solidFill>
            <a:ln w="19050">
              <a:solidFill>
                <a:schemeClr val="bg2">
                  <a:lumMod val="50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de-DE" b="1" dirty="0"/>
                <a:t>view for layer 1</a:t>
              </a:r>
              <a:br>
                <a:rPr lang="de-DE" sz="1600" dirty="0"/>
              </a:br>
              <a:r>
                <a:rPr lang="de-DE" sz="1600" dirty="0"/>
                <a:t>ab03_l1_to_ab_avi01_l1_map</a:t>
              </a:r>
              <a:endParaRPr lang="en-GB" sz="1600" dirty="0"/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3B929AF0-FBAF-4F31-8CC8-1536E0F8D185}"/>
                </a:ext>
              </a:extLst>
            </p:cNvPr>
            <p:cNvSpPr txBox="1"/>
            <p:nvPr/>
          </p:nvSpPr>
          <p:spPr>
            <a:xfrm>
              <a:off x="3387138" y="4085931"/>
              <a:ext cx="2700000" cy="576000"/>
            </a:xfrm>
            <a:prstGeom prst="rect">
              <a:avLst/>
            </a:prstGeom>
            <a:solidFill>
              <a:srgbClr val="E9C561"/>
            </a:solidFill>
            <a:ln w="19050"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de-DE" b="1" dirty="0"/>
                <a:t>view for layer 2</a:t>
              </a:r>
              <a:r>
                <a:rPr lang="de-DE" sz="1600" dirty="0"/>
                <a:t> ab03_l2_to_ab_avi01_l1_map</a:t>
              </a:r>
              <a:endParaRPr lang="en-GB" sz="1600" dirty="0"/>
            </a:p>
          </p:txBody>
        </p:sp>
      </p:grp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A3D14383-D910-496A-A171-C0F53BD94BF8}"/>
              </a:ext>
            </a:extLst>
          </p:cNvPr>
          <p:cNvCxnSpPr>
            <a:cxnSpLocks/>
            <a:stCxn id="7" idx="0"/>
            <a:endCxn id="8" idx="2"/>
          </p:cNvCxnSpPr>
          <p:nvPr/>
        </p:nvCxnSpPr>
        <p:spPr>
          <a:xfrm flipH="1" flipV="1">
            <a:off x="4040367" y="4836944"/>
            <a:ext cx="1397221" cy="529081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avec flèche 55">
            <a:extLst>
              <a:ext uri="{FF2B5EF4-FFF2-40B4-BE49-F238E27FC236}">
                <a16:creationId xmlns:a16="http://schemas.microsoft.com/office/drawing/2014/main" id="{80BC5CAA-E2ED-4886-9A71-905CB300F5AB}"/>
              </a:ext>
            </a:extLst>
          </p:cNvPr>
          <p:cNvCxnSpPr>
            <a:cxnSpLocks/>
            <a:stCxn id="23" idx="2"/>
            <a:endCxn id="7" idx="0"/>
          </p:cNvCxnSpPr>
          <p:nvPr/>
        </p:nvCxnSpPr>
        <p:spPr>
          <a:xfrm flipH="1">
            <a:off x="5437588" y="4836944"/>
            <a:ext cx="1397220" cy="529081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E9070072-1936-400B-BA64-017399636A46}"/>
              </a:ext>
            </a:extLst>
          </p:cNvPr>
          <p:cNvSpPr/>
          <p:nvPr/>
        </p:nvSpPr>
        <p:spPr>
          <a:xfrm>
            <a:off x="3530672" y="5366025"/>
            <a:ext cx="3813832" cy="633180"/>
          </a:xfrm>
          <a:prstGeom prst="roundRect">
            <a:avLst/>
          </a:prstGeom>
          <a:solidFill>
            <a:srgbClr val="83971D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dirty="0" err="1">
                <a:solidFill>
                  <a:schemeClr val="bg1"/>
                </a:solidFill>
              </a:rPr>
              <a:t>TT_CreateMappingview</a:t>
            </a:r>
            <a:r>
              <a:rPr lang="fr-CA" sz="2400" dirty="0">
                <a:solidFill>
                  <a:schemeClr val="bg1"/>
                </a:solidFill>
              </a:rPr>
              <a:t>()</a:t>
            </a:r>
            <a:endParaRPr lang="en-GB" sz="2400" dirty="0">
              <a:solidFill>
                <a:schemeClr val="bg1"/>
              </a:solidFill>
            </a:endParaRPr>
          </a:p>
        </p:txBody>
      </p:sp>
      <p:cxnSp>
        <p:nvCxnSpPr>
          <p:cNvPr id="44" name="Connecteur droit avec flèche 43">
            <a:extLst>
              <a:ext uri="{FF2B5EF4-FFF2-40B4-BE49-F238E27FC236}">
                <a16:creationId xmlns:a16="http://schemas.microsoft.com/office/drawing/2014/main" id="{D8251F2D-B8AC-4441-AF62-FAB45783D64D}"/>
              </a:ext>
            </a:extLst>
          </p:cNvPr>
          <p:cNvCxnSpPr>
            <a:cxnSpLocks/>
            <a:stCxn id="82" idx="3"/>
            <a:endCxn id="7" idx="1"/>
          </p:cNvCxnSpPr>
          <p:nvPr/>
        </p:nvCxnSpPr>
        <p:spPr>
          <a:xfrm>
            <a:off x="2956560" y="5682615"/>
            <a:ext cx="574112" cy="0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Ellipse 98">
            <a:extLst>
              <a:ext uri="{FF2B5EF4-FFF2-40B4-BE49-F238E27FC236}">
                <a16:creationId xmlns:a16="http://schemas.microsoft.com/office/drawing/2014/main" id="{01242566-11EE-463B-B967-6FC3FB33A098}"/>
              </a:ext>
            </a:extLst>
          </p:cNvPr>
          <p:cNvSpPr/>
          <p:nvPr/>
        </p:nvSpPr>
        <p:spPr>
          <a:xfrm>
            <a:off x="1386408" y="4147878"/>
            <a:ext cx="558321" cy="55832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800" b="1" dirty="0"/>
              <a:t>1</a:t>
            </a:r>
            <a:endParaRPr lang="en-GB" sz="2800" b="1" dirty="0"/>
          </a:p>
        </p:txBody>
      </p:sp>
      <p:graphicFrame>
        <p:nvGraphicFramePr>
          <p:cNvPr id="64" name="Tableau 2">
            <a:extLst>
              <a:ext uri="{FF2B5EF4-FFF2-40B4-BE49-F238E27FC236}">
                <a16:creationId xmlns:a16="http://schemas.microsoft.com/office/drawing/2014/main" id="{7B3FC02C-9E25-48A3-B50C-DA3641287A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528881"/>
              </p:ext>
            </p:extLst>
          </p:nvPr>
        </p:nvGraphicFramePr>
        <p:xfrm>
          <a:off x="7889121" y="4965113"/>
          <a:ext cx="3739512" cy="14350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512">
                  <a:extLst>
                    <a:ext uri="{9D8B030D-6E8A-4147-A177-3AD203B41FA5}">
                      <a16:colId xmlns:a16="http://schemas.microsoft.com/office/drawing/2014/main" val="2479692713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3417803258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2373036711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1452312875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1599457183"/>
                    </a:ext>
                  </a:extLst>
                </a:gridCol>
              </a:tblGrid>
              <a:tr h="287001">
                <a:tc gridSpan="5">
                  <a:txBody>
                    <a:bodyPr/>
                    <a:lstStyle/>
                    <a:p>
                      <a:pPr algn="ctr"/>
                      <a:r>
                        <a:rPr lang="fr-CA" sz="1600" dirty="0" err="1">
                          <a:solidFill>
                            <a:schemeClr val="tx1"/>
                          </a:solidFill>
                        </a:rPr>
                        <a:t>layer_metadata</a:t>
                      </a:r>
                      <a:r>
                        <a:rPr lang="fr-CA" sz="1600" dirty="0">
                          <a:solidFill>
                            <a:schemeClr val="tx1"/>
                          </a:solidFill>
                        </a:rPr>
                        <a:t> table</a:t>
                      </a:r>
                      <a:endParaRPr lang="en-GB" sz="16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C5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E9C56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C56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C56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6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C5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631956"/>
                  </a:ext>
                </a:extLst>
              </a:tr>
              <a:tr h="287001">
                <a:tc>
                  <a:txBody>
                    <a:bodyPr/>
                    <a:lstStyle/>
                    <a:p>
                      <a:pPr algn="ctr"/>
                      <a:r>
                        <a:rPr lang="fr-CA" sz="1400" dirty="0" err="1">
                          <a:solidFill>
                            <a:schemeClr val="tx1"/>
                          </a:solidFill>
                        </a:rPr>
                        <a:t>inventory_id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layer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 err="1">
                          <a:solidFill>
                            <a:schemeClr val="tx1"/>
                          </a:solidFill>
                        </a:rPr>
                        <a:t>casfri_table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species_1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775075"/>
                  </a:ext>
                </a:extLst>
              </a:tr>
              <a:tr h="287001"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AB_AVI01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species_1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211516"/>
                  </a:ext>
                </a:extLst>
              </a:tr>
              <a:tr h="287001"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AB03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</a:rPr>
                        <a:t>CAS ECO DST LYR GEO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sp1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331112"/>
                  </a:ext>
                </a:extLst>
              </a:tr>
              <a:tr h="287001"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AB03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LYR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usp1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923161"/>
                  </a:ext>
                </a:extLst>
              </a:tr>
            </a:tbl>
          </a:graphicData>
        </a:graphic>
      </p:graphicFrame>
      <p:cxnSp>
        <p:nvCxnSpPr>
          <p:cNvPr id="66" name="Connecteur droit avec flèche 65">
            <a:extLst>
              <a:ext uri="{FF2B5EF4-FFF2-40B4-BE49-F238E27FC236}">
                <a16:creationId xmlns:a16="http://schemas.microsoft.com/office/drawing/2014/main" id="{B15639DB-385C-4915-9D54-2904DD5665F6}"/>
              </a:ext>
            </a:extLst>
          </p:cNvPr>
          <p:cNvCxnSpPr>
            <a:cxnSpLocks/>
            <a:stCxn id="7" idx="3"/>
            <a:endCxn id="64" idx="1"/>
          </p:cNvCxnSpPr>
          <p:nvPr/>
        </p:nvCxnSpPr>
        <p:spPr>
          <a:xfrm>
            <a:off x="7344504" y="5682615"/>
            <a:ext cx="544617" cy="0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2" name="Tableau 2">
            <a:extLst>
              <a:ext uri="{FF2B5EF4-FFF2-40B4-BE49-F238E27FC236}">
                <a16:creationId xmlns:a16="http://schemas.microsoft.com/office/drawing/2014/main" id="{D8AC698D-7EFE-4310-A603-753F02F1D5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147568"/>
              </p:ext>
            </p:extLst>
          </p:nvPr>
        </p:nvGraphicFramePr>
        <p:xfrm>
          <a:off x="592253" y="5133774"/>
          <a:ext cx="2364307" cy="10976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872">
                  <a:extLst>
                    <a:ext uri="{9D8B030D-6E8A-4147-A177-3AD203B41FA5}">
                      <a16:colId xmlns:a16="http://schemas.microsoft.com/office/drawing/2014/main" val="485956849"/>
                    </a:ext>
                  </a:extLst>
                </a:gridCol>
                <a:gridCol w="800872">
                  <a:extLst>
                    <a:ext uri="{9D8B030D-6E8A-4147-A177-3AD203B41FA5}">
                      <a16:colId xmlns:a16="http://schemas.microsoft.com/office/drawing/2014/main" val="2479692713"/>
                    </a:ext>
                  </a:extLst>
                </a:gridCol>
                <a:gridCol w="762563">
                  <a:extLst>
                    <a:ext uri="{9D8B030D-6E8A-4147-A177-3AD203B41FA5}">
                      <a16:colId xmlns:a16="http://schemas.microsoft.com/office/drawing/2014/main" val="3417803258"/>
                    </a:ext>
                  </a:extLst>
                </a:gridCol>
              </a:tblGrid>
              <a:tr h="287001">
                <a:tc gridSpan="3"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converted raw source </a:t>
                      </a:r>
                      <a:br>
                        <a:rPr lang="en-GB" sz="16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inventory table (AB03)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C56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converted raw source inventory table (ab03)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C5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E9C5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631956"/>
                  </a:ext>
                </a:extLst>
              </a:tr>
              <a:tr h="287001">
                <a:tc>
                  <a:txBody>
                    <a:bodyPr/>
                    <a:lstStyle/>
                    <a:p>
                      <a:pPr algn="ctr"/>
                      <a:r>
                        <a:rPr lang="fr-CA" sz="1400" dirty="0" err="1">
                          <a:solidFill>
                            <a:schemeClr val="tx1"/>
                          </a:solidFill>
                        </a:rPr>
                        <a:t>stand_id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sp1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usp1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775075"/>
                  </a:ext>
                </a:extLst>
              </a:tr>
              <a:tr h="287001"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211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6057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4B6E7328-AE26-4126-9E7D-DABCF269FE53}"/>
              </a:ext>
            </a:extLst>
          </p:cNvPr>
          <p:cNvSpPr/>
          <p:nvPr/>
        </p:nvSpPr>
        <p:spPr>
          <a:xfrm>
            <a:off x="443505" y="2356445"/>
            <a:ext cx="3564000" cy="896006"/>
          </a:xfrm>
          <a:prstGeom prst="roundRect">
            <a:avLst/>
          </a:prstGeom>
          <a:solidFill>
            <a:srgbClr val="83971D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000" dirty="0">
                <a:solidFill>
                  <a:schemeClr val="bg1"/>
                </a:solidFill>
              </a:rPr>
              <a:t>TT_Translate_AB03_CAS(</a:t>
            </a:r>
            <a:r>
              <a:rPr lang="fr-CA" sz="2000" dirty="0" err="1">
                <a:solidFill>
                  <a:schemeClr val="bg1"/>
                </a:solidFill>
              </a:rPr>
              <a:t>view</a:t>
            </a:r>
            <a:r>
              <a:rPr lang="fr-CA" sz="2000" dirty="0">
                <a:solidFill>
                  <a:schemeClr val="bg1"/>
                </a:solidFill>
              </a:rPr>
              <a:t>)</a:t>
            </a:r>
            <a:br>
              <a:rPr lang="fr-CA" sz="2000" dirty="0">
                <a:solidFill>
                  <a:schemeClr val="bg1"/>
                </a:solidFill>
              </a:rPr>
            </a:br>
            <a:r>
              <a:rPr lang="fr-CA" sz="1400" dirty="0">
                <a:solidFill>
                  <a:schemeClr val="bg1"/>
                </a:solidFill>
              </a:rPr>
              <a:t>…</a:t>
            </a:r>
            <a:br>
              <a:rPr lang="fr-CA" sz="2000" dirty="0">
                <a:solidFill>
                  <a:schemeClr val="bg1"/>
                </a:solidFill>
              </a:rPr>
            </a:br>
            <a:r>
              <a:rPr lang="fr-CA" sz="2000" dirty="0">
                <a:solidFill>
                  <a:schemeClr val="bg1"/>
                </a:solidFill>
              </a:rPr>
              <a:t>TT_Translate_AB03_GEO(</a:t>
            </a:r>
            <a:r>
              <a:rPr lang="fr-CA" sz="2000" dirty="0" err="1">
                <a:solidFill>
                  <a:schemeClr val="bg1"/>
                </a:solidFill>
              </a:rPr>
              <a:t>view</a:t>
            </a:r>
            <a:r>
              <a:rPr lang="fr-CA" sz="2000" dirty="0">
                <a:solidFill>
                  <a:schemeClr val="bg1"/>
                </a:solidFill>
              </a:rPr>
              <a:t>)</a:t>
            </a:r>
            <a:endParaRPr lang="en-GB" sz="2000" dirty="0">
              <a:solidFill>
                <a:schemeClr val="bg1"/>
              </a:solidFill>
            </a:endParaRPr>
          </a:p>
        </p:txBody>
      </p:sp>
      <p:cxnSp>
        <p:nvCxnSpPr>
          <p:cNvPr id="58" name="Connecteur droit avec flèche 57">
            <a:extLst>
              <a:ext uri="{FF2B5EF4-FFF2-40B4-BE49-F238E27FC236}">
                <a16:creationId xmlns:a16="http://schemas.microsoft.com/office/drawing/2014/main" id="{588E0B3D-2595-4A01-B637-AC57F6138A97}"/>
              </a:ext>
            </a:extLst>
          </p:cNvPr>
          <p:cNvCxnSpPr>
            <a:cxnSpLocks/>
          </p:cNvCxnSpPr>
          <p:nvPr/>
        </p:nvCxnSpPr>
        <p:spPr>
          <a:xfrm flipH="1" flipV="1">
            <a:off x="2356135" y="3252451"/>
            <a:ext cx="1569037" cy="461941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92148045-F1A5-41F9-ADB8-CD52E3D0D868}"/>
              </a:ext>
            </a:extLst>
          </p:cNvPr>
          <p:cNvSpPr txBox="1"/>
          <p:nvPr/>
        </p:nvSpPr>
        <p:spPr>
          <a:xfrm>
            <a:off x="443505" y="244341"/>
            <a:ext cx="3564000" cy="783698"/>
          </a:xfrm>
          <a:prstGeom prst="rect">
            <a:avLst/>
          </a:prstGeom>
          <a:solidFill>
            <a:srgbClr val="E9C561"/>
          </a:solidFill>
          <a:ln w="19050">
            <a:solidFill>
              <a:schemeClr val="bg2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fr-CA" sz="2000" b="1" dirty="0"/>
              <a:t>input translation tables</a:t>
            </a:r>
          </a:p>
          <a:p>
            <a:pPr algn="ctr"/>
            <a:r>
              <a:rPr lang="fr-CA" sz="1400" dirty="0"/>
              <a:t>ab_avi01_cas, ab_avi01_dst, ab_avi01_eco, ab_avi01_lyr, ab_avi01_nfl, ab_avi01_geo</a:t>
            </a:r>
            <a:endParaRPr lang="en-GB" sz="1400" dirty="0"/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27AED0FC-905D-4795-863B-56D13777FB06}"/>
              </a:ext>
            </a:extLst>
          </p:cNvPr>
          <p:cNvSpPr/>
          <p:nvPr/>
        </p:nvSpPr>
        <p:spPr>
          <a:xfrm>
            <a:off x="443505" y="1342255"/>
            <a:ext cx="3564000" cy="627017"/>
          </a:xfrm>
          <a:prstGeom prst="roundRect">
            <a:avLst/>
          </a:prstGeom>
          <a:solidFill>
            <a:srgbClr val="83971D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000" dirty="0" err="1">
                <a:solidFill>
                  <a:schemeClr val="bg1"/>
                </a:solidFill>
              </a:rPr>
              <a:t>TT_Prepare</a:t>
            </a:r>
            <a:r>
              <a:rPr lang="fr-CA" sz="2000" dirty="0">
                <a:solidFill>
                  <a:schemeClr val="bg1"/>
                </a:solidFill>
              </a:rPr>
              <a:t>(</a:t>
            </a:r>
            <a:r>
              <a:rPr lang="fr-CA" sz="2000" dirty="0" err="1">
                <a:solidFill>
                  <a:schemeClr val="bg1"/>
                </a:solidFill>
              </a:rPr>
              <a:t>translation_table</a:t>
            </a:r>
            <a:r>
              <a:rPr lang="fr-CA" sz="2000" dirty="0">
                <a:solidFill>
                  <a:schemeClr val="bg1"/>
                </a:solidFill>
              </a:rPr>
              <a:t>)</a:t>
            </a:r>
            <a:endParaRPr lang="en-GB" sz="2000" dirty="0">
              <a:solidFill>
                <a:schemeClr val="bg1"/>
              </a:solidFill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518E24C7-7A3B-4CF5-B2DE-47077D77763A}"/>
              </a:ext>
            </a:extLst>
          </p:cNvPr>
          <p:cNvSpPr txBox="1"/>
          <p:nvPr/>
        </p:nvSpPr>
        <p:spPr>
          <a:xfrm>
            <a:off x="443504" y="3702076"/>
            <a:ext cx="11260815" cy="2826637"/>
          </a:xfrm>
          <a:prstGeom prst="rect">
            <a:avLst/>
          </a:prstGeom>
          <a:solidFill>
            <a:srgbClr val="F3E0AB"/>
          </a:solidFill>
        </p:spPr>
        <p:txBody>
          <a:bodyPr wrap="square" rtlCol="0">
            <a:noAutofit/>
          </a:bodyPr>
          <a:lstStyle/>
          <a:p>
            <a:r>
              <a:rPr lang="fr-CA" sz="2400" b="1" dirty="0"/>
              <a:t>                      input </a:t>
            </a:r>
            <a:r>
              <a:rPr lang="fr-CA" sz="2400" b="1" dirty="0" err="1"/>
              <a:t>inventory</a:t>
            </a:r>
            <a:r>
              <a:rPr lang="fr-CA" sz="2400" b="1" dirty="0"/>
              <a:t> data tables</a:t>
            </a:r>
            <a:endParaRPr lang="en-GB" sz="2400" b="1" dirty="0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68EA8242-6B6A-4EB3-90B2-B89A67E093C2}"/>
              </a:ext>
            </a:extLst>
          </p:cNvPr>
          <p:cNvSpPr txBox="1"/>
          <p:nvPr/>
        </p:nvSpPr>
        <p:spPr>
          <a:xfrm>
            <a:off x="4813618" y="2420985"/>
            <a:ext cx="2906741" cy="78369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fr-CA" sz="2000" b="1" dirty="0"/>
              <a:t>output </a:t>
            </a:r>
            <a:r>
              <a:rPr lang="fr-CA" sz="2000" b="1" dirty="0" err="1"/>
              <a:t>translated</a:t>
            </a:r>
            <a:r>
              <a:rPr lang="fr-CA" sz="2000" b="1" dirty="0"/>
              <a:t> tables</a:t>
            </a:r>
          </a:p>
          <a:p>
            <a:pPr algn="ctr"/>
            <a:r>
              <a:rPr lang="fr-CA" sz="1600" dirty="0" err="1"/>
              <a:t>cas_all</a:t>
            </a:r>
            <a:r>
              <a:rPr lang="fr-CA" sz="1600" dirty="0"/>
              <a:t>, </a:t>
            </a:r>
            <a:r>
              <a:rPr lang="fr-CA" sz="1600" dirty="0" err="1"/>
              <a:t>dst_all</a:t>
            </a:r>
            <a:r>
              <a:rPr lang="fr-CA" sz="1600" dirty="0"/>
              <a:t>, </a:t>
            </a:r>
            <a:r>
              <a:rPr lang="fr-CA" sz="1600" dirty="0" err="1"/>
              <a:t>eco_all</a:t>
            </a:r>
            <a:r>
              <a:rPr lang="fr-CA" sz="1600" dirty="0"/>
              <a:t>, </a:t>
            </a:r>
            <a:r>
              <a:rPr lang="fr-CA" sz="1600" dirty="0" err="1"/>
              <a:t>lyr_all</a:t>
            </a:r>
            <a:r>
              <a:rPr lang="fr-CA" sz="1600" dirty="0"/>
              <a:t>, </a:t>
            </a:r>
            <a:r>
              <a:rPr lang="fr-CA" sz="1600" dirty="0" err="1"/>
              <a:t>nfl_all</a:t>
            </a:r>
            <a:r>
              <a:rPr lang="fr-CA" sz="1600" dirty="0"/>
              <a:t>, </a:t>
            </a:r>
            <a:r>
              <a:rPr lang="fr-CA" sz="1600" dirty="0" err="1"/>
              <a:t>geo_all</a:t>
            </a:r>
            <a:endParaRPr lang="en-GB" sz="1600" dirty="0"/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7AA2E1AE-F490-4227-9B54-2BC2538BD385}"/>
              </a:ext>
            </a:extLst>
          </p:cNvPr>
          <p:cNvCxnSpPr>
            <a:cxnSpLocks/>
            <a:stCxn id="29" idx="2"/>
            <a:endCxn id="34" idx="0"/>
          </p:cNvCxnSpPr>
          <p:nvPr/>
        </p:nvCxnSpPr>
        <p:spPr>
          <a:xfrm>
            <a:off x="2225505" y="1028039"/>
            <a:ext cx="0" cy="314216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FEED041D-072D-45C9-8565-3D5E08191F1A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>
            <a:off x="2225505" y="1969272"/>
            <a:ext cx="0" cy="387173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avec flèche 61">
            <a:extLst>
              <a:ext uri="{FF2B5EF4-FFF2-40B4-BE49-F238E27FC236}">
                <a16:creationId xmlns:a16="http://schemas.microsoft.com/office/drawing/2014/main" id="{8CC8ACF5-1EC6-4634-8980-2725FF212CE8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>
          <a:xfrm>
            <a:off x="4007505" y="2804448"/>
            <a:ext cx="806113" cy="8386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eur droit avec flèche 82">
            <a:extLst>
              <a:ext uri="{FF2B5EF4-FFF2-40B4-BE49-F238E27FC236}">
                <a16:creationId xmlns:a16="http://schemas.microsoft.com/office/drawing/2014/main" id="{1F813C53-B34B-4270-A06C-DA2D13EEAC7A}"/>
              </a:ext>
            </a:extLst>
          </p:cNvPr>
          <p:cNvCxnSpPr>
            <a:cxnSpLocks/>
            <a:stCxn id="36" idx="0"/>
            <a:endCxn id="85" idx="2"/>
          </p:cNvCxnSpPr>
          <p:nvPr/>
        </p:nvCxnSpPr>
        <p:spPr>
          <a:xfrm flipV="1">
            <a:off x="6266989" y="2066206"/>
            <a:ext cx="0" cy="354779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 : coins arrondis 83">
            <a:extLst>
              <a:ext uri="{FF2B5EF4-FFF2-40B4-BE49-F238E27FC236}">
                <a16:creationId xmlns:a16="http://schemas.microsoft.com/office/drawing/2014/main" id="{19AA910A-CF5A-49E1-9C54-B74B80DA312A}"/>
              </a:ext>
            </a:extLst>
          </p:cNvPr>
          <p:cNvSpPr/>
          <p:nvPr/>
        </p:nvSpPr>
        <p:spPr>
          <a:xfrm>
            <a:off x="4394519" y="329287"/>
            <a:ext cx="3733635" cy="627017"/>
          </a:xfrm>
          <a:prstGeom prst="roundRect">
            <a:avLst/>
          </a:prstGeom>
          <a:solidFill>
            <a:srgbClr val="83971D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dirty="0" err="1">
                <a:solidFill>
                  <a:schemeClr val="bg1"/>
                </a:solidFill>
              </a:rPr>
              <a:t>TT_ProduceInvGeoHistory</a:t>
            </a:r>
            <a:r>
              <a:rPr lang="fr-CA" sz="2400" dirty="0">
                <a:solidFill>
                  <a:schemeClr val="bg1"/>
                </a:solidFill>
              </a:rPr>
              <a:t>()</a:t>
            </a:r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9D3FD4DA-0D04-44DE-8E60-7DFA3F913499}"/>
              </a:ext>
            </a:extLst>
          </p:cNvPr>
          <p:cNvSpPr txBox="1"/>
          <p:nvPr/>
        </p:nvSpPr>
        <p:spPr>
          <a:xfrm>
            <a:off x="4813618" y="1282508"/>
            <a:ext cx="2906741" cy="78369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fr-CA" sz="2000" b="1" dirty="0"/>
              <a:t>output flat table</a:t>
            </a:r>
          </a:p>
          <a:p>
            <a:pPr algn="ctr"/>
            <a:r>
              <a:rPr lang="en-GB" sz="1400" dirty="0" err="1"/>
              <a:t>cas_flat_all_layers_same_row</a:t>
            </a:r>
            <a:endParaRPr lang="en-GB" sz="1400" dirty="0"/>
          </a:p>
        </p:txBody>
      </p:sp>
      <p:sp>
        <p:nvSpPr>
          <p:cNvPr id="100" name="Ellipse 99">
            <a:extLst>
              <a:ext uri="{FF2B5EF4-FFF2-40B4-BE49-F238E27FC236}">
                <a16:creationId xmlns:a16="http://schemas.microsoft.com/office/drawing/2014/main" id="{FBB50B8A-231F-4103-A471-9856B1C423B5}"/>
              </a:ext>
            </a:extLst>
          </p:cNvPr>
          <p:cNvSpPr/>
          <p:nvPr/>
        </p:nvSpPr>
        <p:spPr>
          <a:xfrm>
            <a:off x="33932" y="1370549"/>
            <a:ext cx="558321" cy="55832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800" b="1" dirty="0"/>
              <a:t>2</a:t>
            </a:r>
            <a:endParaRPr lang="en-GB" sz="2800" b="1" dirty="0"/>
          </a:p>
        </p:txBody>
      </p:sp>
      <p:sp>
        <p:nvSpPr>
          <p:cNvPr id="103" name="Ellipse 102">
            <a:extLst>
              <a:ext uri="{FF2B5EF4-FFF2-40B4-BE49-F238E27FC236}">
                <a16:creationId xmlns:a16="http://schemas.microsoft.com/office/drawing/2014/main" id="{2E2C0892-9CB5-4FCC-8970-C59A70249581}"/>
              </a:ext>
            </a:extLst>
          </p:cNvPr>
          <p:cNvSpPr/>
          <p:nvPr/>
        </p:nvSpPr>
        <p:spPr>
          <a:xfrm>
            <a:off x="3794542" y="2530843"/>
            <a:ext cx="558321" cy="55832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800" b="1" dirty="0"/>
              <a:t>3</a:t>
            </a:r>
            <a:endParaRPr lang="en-GB" sz="2800" b="1" dirty="0"/>
          </a:p>
        </p:txBody>
      </p:sp>
      <p:sp>
        <p:nvSpPr>
          <p:cNvPr id="104" name="Ellipse 103">
            <a:extLst>
              <a:ext uri="{FF2B5EF4-FFF2-40B4-BE49-F238E27FC236}">
                <a16:creationId xmlns:a16="http://schemas.microsoft.com/office/drawing/2014/main" id="{5C70298B-5BFC-4D37-839D-F007BAB8D9CA}"/>
              </a:ext>
            </a:extLst>
          </p:cNvPr>
          <p:cNvSpPr/>
          <p:nvPr/>
        </p:nvSpPr>
        <p:spPr>
          <a:xfrm>
            <a:off x="5594379" y="1944287"/>
            <a:ext cx="558321" cy="55832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800" b="1" dirty="0"/>
              <a:t>4</a:t>
            </a:r>
            <a:endParaRPr lang="en-GB" sz="2800" b="1" dirty="0"/>
          </a:p>
        </p:txBody>
      </p:sp>
      <p:sp>
        <p:nvSpPr>
          <p:cNvPr id="110" name="ZoneTexte 109">
            <a:extLst>
              <a:ext uri="{FF2B5EF4-FFF2-40B4-BE49-F238E27FC236}">
                <a16:creationId xmlns:a16="http://schemas.microsoft.com/office/drawing/2014/main" id="{5707500A-F67A-4FD0-9DD3-C3889083A698}"/>
              </a:ext>
            </a:extLst>
          </p:cNvPr>
          <p:cNvSpPr txBox="1"/>
          <p:nvPr/>
        </p:nvSpPr>
        <p:spPr>
          <a:xfrm>
            <a:off x="8811959" y="329286"/>
            <a:ext cx="2448000" cy="62701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fr-CA" b="1" dirty="0"/>
              <a:t>output </a:t>
            </a:r>
            <a:r>
              <a:rPr lang="fr-CA" b="1" dirty="0" err="1"/>
              <a:t>geohistory</a:t>
            </a:r>
            <a:r>
              <a:rPr lang="fr-CA" b="1" dirty="0"/>
              <a:t> table</a:t>
            </a:r>
            <a:endParaRPr lang="en-GB" b="1" dirty="0"/>
          </a:p>
        </p:txBody>
      </p:sp>
      <p:cxnSp>
        <p:nvCxnSpPr>
          <p:cNvPr id="115" name="Connecteur droit avec flèche 114">
            <a:extLst>
              <a:ext uri="{FF2B5EF4-FFF2-40B4-BE49-F238E27FC236}">
                <a16:creationId xmlns:a16="http://schemas.microsoft.com/office/drawing/2014/main" id="{A668FD2A-5FAB-4942-9335-A0764BB762DC}"/>
              </a:ext>
            </a:extLst>
          </p:cNvPr>
          <p:cNvCxnSpPr>
            <a:cxnSpLocks/>
            <a:stCxn id="85" idx="0"/>
            <a:endCxn id="84" idx="2"/>
          </p:cNvCxnSpPr>
          <p:nvPr/>
        </p:nvCxnSpPr>
        <p:spPr>
          <a:xfrm flipH="1" flipV="1">
            <a:off x="6261337" y="956304"/>
            <a:ext cx="5652" cy="326204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eur droit avec flèche 120">
            <a:extLst>
              <a:ext uri="{FF2B5EF4-FFF2-40B4-BE49-F238E27FC236}">
                <a16:creationId xmlns:a16="http://schemas.microsoft.com/office/drawing/2014/main" id="{0145ABF2-42BA-4FF8-9794-CE012DC6D327}"/>
              </a:ext>
            </a:extLst>
          </p:cNvPr>
          <p:cNvCxnSpPr>
            <a:cxnSpLocks/>
            <a:stCxn id="84" idx="3"/>
            <a:endCxn id="110" idx="1"/>
          </p:cNvCxnSpPr>
          <p:nvPr/>
        </p:nvCxnSpPr>
        <p:spPr>
          <a:xfrm flipV="1">
            <a:off x="8128154" y="642794"/>
            <a:ext cx="683805" cy="2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ctangle : coins arrondis 123">
            <a:extLst>
              <a:ext uri="{FF2B5EF4-FFF2-40B4-BE49-F238E27FC236}">
                <a16:creationId xmlns:a16="http://schemas.microsoft.com/office/drawing/2014/main" id="{362EC4B2-876B-4DB9-B2DD-5451257C0990}"/>
              </a:ext>
            </a:extLst>
          </p:cNvPr>
          <p:cNvSpPr/>
          <p:nvPr/>
        </p:nvSpPr>
        <p:spPr>
          <a:xfrm>
            <a:off x="8232846" y="2502686"/>
            <a:ext cx="3606227" cy="627017"/>
          </a:xfrm>
          <a:prstGeom prst="roundRect">
            <a:avLst/>
          </a:prstGeom>
          <a:solidFill>
            <a:srgbClr val="83971D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000" dirty="0" err="1">
                <a:solidFill>
                  <a:schemeClr val="bg1"/>
                </a:solidFill>
              </a:rPr>
              <a:t>TT_ProduceDerivedCoverage</a:t>
            </a:r>
            <a:r>
              <a:rPr lang="fr-CA" sz="2000" dirty="0">
                <a:solidFill>
                  <a:schemeClr val="bg1"/>
                </a:solidFill>
              </a:rPr>
              <a:t>()</a:t>
            </a:r>
            <a:endParaRPr lang="en-GB" sz="2000" dirty="0">
              <a:solidFill>
                <a:schemeClr val="bg1"/>
              </a:solidFill>
            </a:endParaRP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2940A9D3-7C80-4680-872F-592ADB3DBF97}"/>
              </a:ext>
            </a:extLst>
          </p:cNvPr>
          <p:cNvSpPr txBox="1"/>
          <p:nvPr/>
        </p:nvSpPr>
        <p:spPr>
          <a:xfrm>
            <a:off x="8811959" y="1255445"/>
            <a:ext cx="2448000" cy="94382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fr-CA" sz="1600" b="1" dirty="0"/>
              <a:t>output </a:t>
            </a:r>
            <a:r>
              <a:rPr lang="fr-CA" sz="1600" b="1" dirty="0" err="1"/>
              <a:t>detailed</a:t>
            </a:r>
            <a:r>
              <a:rPr lang="fr-CA" sz="1600" b="1" dirty="0"/>
              <a:t>, </a:t>
            </a:r>
            <a:r>
              <a:rPr lang="fr-CA" sz="1600" b="1" dirty="0" err="1"/>
              <a:t>noholes</a:t>
            </a:r>
            <a:r>
              <a:rPr lang="fr-CA" sz="1600" b="1" dirty="0"/>
              <a:t>, </a:t>
            </a:r>
            <a:r>
              <a:rPr lang="fr-CA" sz="1600" b="1" dirty="0" err="1"/>
              <a:t>noislands</a:t>
            </a:r>
            <a:r>
              <a:rPr lang="fr-CA" sz="1600" b="1" dirty="0"/>
              <a:t>, </a:t>
            </a:r>
            <a:r>
              <a:rPr lang="fr-CA" sz="1600" b="1" dirty="0" err="1"/>
              <a:t>simplified</a:t>
            </a:r>
            <a:r>
              <a:rPr lang="fr-CA" sz="1600" b="1" dirty="0"/>
              <a:t> and </a:t>
            </a:r>
            <a:r>
              <a:rPr lang="fr-CA" sz="1600" b="1" dirty="0" err="1"/>
              <a:t>smoothed</a:t>
            </a:r>
            <a:r>
              <a:rPr lang="fr-CA" sz="1600" b="1" dirty="0"/>
              <a:t> </a:t>
            </a:r>
            <a:r>
              <a:rPr lang="fr-CA" sz="1600" b="1" dirty="0" err="1"/>
              <a:t>coverage</a:t>
            </a:r>
            <a:r>
              <a:rPr lang="fr-CA" sz="1600" b="1" dirty="0"/>
              <a:t> tables </a:t>
            </a:r>
            <a:endParaRPr lang="en-GB" sz="1600" b="1" dirty="0"/>
          </a:p>
        </p:txBody>
      </p:sp>
      <p:sp>
        <p:nvSpPr>
          <p:cNvPr id="98" name="Ellipse 97">
            <a:extLst>
              <a:ext uri="{FF2B5EF4-FFF2-40B4-BE49-F238E27FC236}">
                <a16:creationId xmlns:a16="http://schemas.microsoft.com/office/drawing/2014/main" id="{7EC45BBD-B4B7-43F0-BA7E-C8DF7E80FE36}"/>
              </a:ext>
            </a:extLst>
          </p:cNvPr>
          <p:cNvSpPr/>
          <p:nvPr/>
        </p:nvSpPr>
        <p:spPr>
          <a:xfrm>
            <a:off x="8002728" y="366752"/>
            <a:ext cx="558321" cy="55832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800" b="1" dirty="0"/>
              <a:t>5</a:t>
            </a:r>
            <a:endParaRPr lang="en-GB" sz="2800" b="1" dirty="0"/>
          </a:p>
        </p:txBody>
      </p:sp>
      <p:cxnSp>
        <p:nvCxnSpPr>
          <p:cNvPr id="132" name="Connecteur droit avec flèche 131">
            <a:extLst>
              <a:ext uri="{FF2B5EF4-FFF2-40B4-BE49-F238E27FC236}">
                <a16:creationId xmlns:a16="http://schemas.microsoft.com/office/drawing/2014/main" id="{FE766572-7744-41C2-89E8-7E86B7E5173D}"/>
              </a:ext>
            </a:extLst>
          </p:cNvPr>
          <p:cNvCxnSpPr>
            <a:cxnSpLocks/>
            <a:stCxn id="36" idx="3"/>
            <a:endCxn id="124" idx="1"/>
          </p:cNvCxnSpPr>
          <p:nvPr/>
        </p:nvCxnSpPr>
        <p:spPr>
          <a:xfrm>
            <a:off x="7720359" y="2812834"/>
            <a:ext cx="512487" cy="3361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eur droit avec flèche 134">
            <a:extLst>
              <a:ext uri="{FF2B5EF4-FFF2-40B4-BE49-F238E27FC236}">
                <a16:creationId xmlns:a16="http://schemas.microsoft.com/office/drawing/2014/main" id="{962D54E4-445F-44C7-98DB-73314A7B48AE}"/>
              </a:ext>
            </a:extLst>
          </p:cNvPr>
          <p:cNvCxnSpPr>
            <a:cxnSpLocks/>
            <a:stCxn id="124" idx="0"/>
            <a:endCxn id="125" idx="2"/>
          </p:cNvCxnSpPr>
          <p:nvPr/>
        </p:nvCxnSpPr>
        <p:spPr>
          <a:xfrm flipH="1" flipV="1">
            <a:off x="10035959" y="2199272"/>
            <a:ext cx="1" cy="303414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Ellipse 137">
            <a:extLst>
              <a:ext uri="{FF2B5EF4-FFF2-40B4-BE49-F238E27FC236}">
                <a16:creationId xmlns:a16="http://schemas.microsoft.com/office/drawing/2014/main" id="{9438A552-8A99-4397-AF98-C146E426D80C}"/>
              </a:ext>
            </a:extLst>
          </p:cNvPr>
          <p:cNvSpPr/>
          <p:nvPr/>
        </p:nvSpPr>
        <p:spPr>
          <a:xfrm>
            <a:off x="8540309" y="2083978"/>
            <a:ext cx="558321" cy="55832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800" b="1" dirty="0"/>
              <a:t>6</a:t>
            </a:r>
            <a:endParaRPr lang="en-GB" sz="2800" b="1" dirty="0"/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FF5844AA-D7FC-4D2F-9937-405F397BDA69}"/>
              </a:ext>
            </a:extLst>
          </p:cNvPr>
          <p:cNvGrpSpPr/>
          <p:nvPr/>
        </p:nvGrpSpPr>
        <p:grpSpPr>
          <a:xfrm>
            <a:off x="1305708" y="4234817"/>
            <a:ext cx="5494441" cy="669267"/>
            <a:chOff x="592697" y="4085931"/>
            <a:chExt cx="5494441" cy="576000"/>
          </a:xfrm>
        </p:grpSpPr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3C55633C-E5CF-4103-B480-C4985198CA55}"/>
                </a:ext>
              </a:extLst>
            </p:cNvPr>
            <p:cNvSpPr txBox="1"/>
            <p:nvPr/>
          </p:nvSpPr>
          <p:spPr>
            <a:xfrm>
              <a:off x="592697" y="4085931"/>
              <a:ext cx="2700000" cy="576000"/>
            </a:xfrm>
            <a:prstGeom prst="rect">
              <a:avLst/>
            </a:prstGeom>
            <a:solidFill>
              <a:srgbClr val="E9C561"/>
            </a:solidFill>
            <a:ln w="19050">
              <a:solidFill>
                <a:schemeClr val="bg2">
                  <a:lumMod val="50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de-DE" b="1" dirty="0"/>
                <a:t>view for layer 1</a:t>
              </a:r>
              <a:br>
                <a:rPr lang="de-DE" sz="1600" dirty="0"/>
              </a:br>
              <a:r>
                <a:rPr lang="de-DE" sz="1600" dirty="0"/>
                <a:t>ab03_l1_to_ab_avi01_l1_map</a:t>
              </a:r>
              <a:endParaRPr lang="en-GB" sz="1600" dirty="0"/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3B929AF0-FBAF-4F31-8CC8-1536E0F8D185}"/>
                </a:ext>
              </a:extLst>
            </p:cNvPr>
            <p:cNvSpPr txBox="1"/>
            <p:nvPr/>
          </p:nvSpPr>
          <p:spPr>
            <a:xfrm>
              <a:off x="3387138" y="4085931"/>
              <a:ext cx="2700000" cy="576000"/>
            </a:xfrm>
            <a:prstGeom prst="rect">
              <a:avLst/>
            </a:prstGeom>
            <a:solidFill>
              <a:srgbClr val="E9C561"/>
            </a:solidFill>
            <a:ln w="19050"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de-DE" b="1" dirty="0"/>
                <a:t>view for layer 2</a:t>
              </a:r>
              <a:r>
                <a:rPr lang="de-DE" sz="1600" dirty="0"/>
                <a:t> ab03_l2_to_ab_avi01_l1_map</a:t>
              </a:r>
              <a:endParaRPr lang="en-GB" sz="1600" dirty="0"/>
            </a:p>
          </p:txBody>
        </p:sp>
      </p:grp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A3D14383-D910-496A-A171-C0F53BD94BF8}"/>
              </a:ext>
            </a:extLst>
          </p:cNvPr>
          <p:cNvCxnSpPr>
            <a:cxnSpLocks/>
            <a:stCxn id="7" idx="0"/>
            <a:endCxn id="8" idx="2"/>
          </p:cNvCxnSpPr>
          <p:nvPr/>
        </p:nvCxnSpPr>
        <p:spPr>
          <a:xfrm flipH="1" flipV="1">
            <a:off x="2655708" y="4904084"/>
            <a:ext cx="1397221" cy="501134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avec flèche 55">
            <a:extLst>
              <a:ext uri="{FF2B5EF4-FFF2-40B4-BE49-F238E27FC236}">
                <a16:creationId xmlns:a16="http://schemas.microsoft.com/office/drawing/2014/main" id="{80BC5CAA-E2ED-4886-9A71-905CB300F5AB}"/>
              </a:ext>
            </a:extLst>
          </p:cNvPr>
          <p:cNvCxnSpPr>
            <a:cxnSpLocks/>
            <a:stCxn id="23" idx="2"/>
            <a:endCxn id="7" idx="0"/>
          </p:cNvCxnSpPr>
          <p:nvPr/>
        </p:nvCxnSpPr>
        <p:spPr>
          <a:xfrm flipH="1">
            <a:off x="4052929" y="4904084"/>
            <a:ext cx="1397220" cy="501134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E9070072-1936-400B-BA64-017399636A46}"/>
              </a:ext>
            </a:extLst>
          </p:cNvPr>
          <p:cNvSpPr/>
          <p:nvPr/>
        </p:nvSpPr>
        <p:spPr>
          <a:xfrm>
            <a:off x="2146013" y="5405218"/>
            <a:ext cx="3813832" cy="633180"/>
          </a:xfrm>
          <a:prstGeom prst="roundRect">
            <a:avLst/>
          </a:prstGeom>
          <a:solidFill>
            <a:srgbClr val="83971D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dirty="0" err="1">
                <a:solidFill>
                  <a:schemeClr val="bg1"/>
                </a:solidFill>
              </a:rPr>
              <a:t>TT_CreateMappingview</a:t>
            </a:r>
            <a:r>
              <a:rPr lang="fr-CA" sz="2400" dirty="0">
                <a:solidFill>
                  <a:schemeClr val="bg1"/>
                </a:solidFill>
              </a:rPr>
              <a:t>()</a:t>
            </a:r>
            <a:endParaRPr lang="en-GB" sz="2400" dirty="0">
              <a:solidFill>
                <a:schemeClr val="bg1"/>
              </a:solidFill>
            </a:endParaRPr>
          </a:p>
        </p:txBody>
      </p:sp>
      <p:cxnSp>
        <p:nvCxnSpPr>
          <p:cNvPr id="44" name="Connecteur droit avec flèche 43">
            <a:extLst>
              <a:ext uri="{FF2B5EF4-FFF2-40B4-BE49-F238E27FC236}">
                <a16:creationId xmlns:a16="http://schemas.microsoft.com/office/drawing/2014/main" id="{D8251F2D-B8AC-4441-AF62-FAB45783D64D}"/>
              </a:ext>
            </a:extLst>
          </p:cNvPr>
          <p:cNvCxnSpPr>
            <a:cxnSpLocks/>
            <a:stCxn id="82" idx="1"/>
          </p:cNvCxnSpPr>
          <p:nvPr/>
        </p:nvCxnSpPr>
        <p:spPr>
          <a:xfrm flipH="1">
            <a:off x="5959845" y="4381370"/>
            <a:ext cx="1765180" cy="1089533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Ellipse 98">
            <a:extLst>
              <a:ext uri="{FF2B5EF4-FFF2-40B4-BE49-F238E27FC236}">
                <a16:creationId xmlns:a16="http://schemas.microsoft.com/office/drawing/2014/main" id="{01242566-11EE-463B-B967-6FC3FB33A098}"/>
              </a:ext>
            </a:extLst>
          </p:cNvPr>
          <p:cNvSpPr/>
          <p:nvPr/>
        </p:nvSpPr>
        <p:spPr>
          <a:xfrm>
            <a:off x="1446699" y="5407842"/>
            <a:ext cx="558321" cy="55832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800" b="1" dirty="0"/>
              <a:t>1</a:t>
            </a:r>
            <a:endParaRPr lang="en-GB" sz="2800" b="1" dirty="0"/>
          </a:p>
        </p:txBody>
      </p:sp>
      <p:graphicFrame>
        <p:nvGraphicFramePr>
          <p:cNvPr id="64" name="Tableau 2">
            <a:extLst>
              <a:ext uri="{FF2B5EF4-FFF2-40B4-BE49-F238E27FC236}">
                <a16:creationId xmlns:a16="http://schemas.microsoft.com/office/drawing/2014/main" id="{7B3FC02C-9E25-48A3-B50C-DA3641287A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401959"/>
              </p:ext>
            </p:extLst>
          </p:nvPr>
        </p:nvGraphicFramePr>
        <p:xfrm>
          <a:off x="7053097" y="5017365"/>
          <a:ext cx="3739512" cy="14350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512">
                  <a:extLst>
                    <a:ext uri="{9D8B030D-6E8A-4147-A177-3AD203B41FA5}">
                      <a16:colId xmlns:a16="http://schemas.microsoft.com/office/drawing/2014/main" val="2479692713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3417803258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2373036711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1452312875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1599457183"/>
                    </a:ext>
                  </a:extLst>
                </a:gridCol>
              </a:tblGrid>
              <a:tr h="287001">
                <a:tc gridSpan="5">
                  <a:txBody>
                    <a:bodyPr/>
                    <a:lstStyle/>
                    <a:p>
                      <a:pPr algn="ctr"/>
                      <a:r>
                        <a:rPr lang="fr-CA" sz="1600" dirty="0" err="1">
                          <a:solidFill>
                            <a:schemeClr val="tx1"/>
                          </a:solidFill>
                        </a:rPr>
                        <a:t>layer_metadata</a:t>
                      </a:r>
                      <a:r>
                        <a:rPr lang="fr-CA" sz="1600" dirty="0">
                          <a:solidFill>
                            <a:schemeClr val="tx1"/>
                          </a:solidFill>
                        </a:rPr>
                        <a:t> table</a:t>
                      </a:r>
                      <a:endParaRPr lang="en-GB" sz="16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C5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E9C56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C56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C56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6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C5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631956"/>
                  </a:ext>
                </a:extLst>
              </a:tr>
              <a:tr h="287001">
                <a:tc>
                  <a:txBody>
                    <a:bodyPr/>
                    <a:lstStyle/>
                    <a:p>
                      <a:pPr algn="ctr"/>
                      <a:r>
                        <a:rPr lang="fr-CA" sz="1400" dirty="0" err="1">
                          <a:solidFill>
                            <a:schemeClr val="tx1"/>
                          </a:solidFill>
                        </a:rPr>
                        <a:t>inventory_id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layer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 err="1">
                          <a:solidFill>
                            <a:schemeClr val="tx1"/>
                          </a:solidFill>
                        </a:rPr>
                        <a:t>casfri_table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species_1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775075"/>
                  </a:ext>
                </a:extLst>
              </a:tr>
              <a:tr h="287001"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AB_AVI01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species_1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211516"/>
                  </a:ext>
                </a:extLst>
              </a:tr>
              <a:tr h="287001"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AB03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</a:rPr>
                        <a:t>CAS ECO DST LYR GEO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sp1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331112"/>
                  </a:ext>
                </a:extLst>
              </a:tr>
              <a:tr h="287001"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AB03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LYR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usp1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923161"/>
                  </a:ext>
                </a:extLst>
              </a:tr>
            </a:tbl>
          </a:graphicData>
        </a:graphic>
      </p:graphicFrame>
      <p:cxnSp>
        <p:nvCxnSpPr>
          <p:cNvPr id="66" name="Connecteur droit avec flèche 65">
            <a:extLst>
              <a:ext uri="{FF2B5EF4-FFF2-40B4-BE49-F238E27FC236}">
                <a16:creationId xmlns:a16="http://schemas.microsoft.com/office/drawing/2014/main" id="{B15639DB-385C-4915-9D54-2904DD5665F6}"/>
              </a:ext>
            </a:extLst>
          </p:cNvPr>
          <p:cNvCxnSpPr>
            <a:cxnSpLocks/>
            <a:stCxn id="7" idx="3"/>
            <a:endCxn id="64" idx="1"/>
          </p:cNvCxnSpPr>
          <p:nvPr/>
        </p:nvCxnSpPr>
        <p:spPr>
          <a:xfrm>
            <a:off x="5959845" y="5721808"/>
            <a:ext cx="1093252" cy="13059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2" name="Tableau 2">
            <a:extLst>
              <a:ext uri="{FF2B5EF4-FFF2-40B4-BE49-F238E27FC236}">
                <a16:creationId xmlns:a16="http://schemas.microsoft.com/office/drawing/2014/main" id="{D8AC698D-7EFE-4310-A603-753F02F1D5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5273554"/>
              </p:ext>
            </p:extLst>
          </p:nvPr>
        </p:nvGraphicFramePr>
        <p:xfrm>
          <a:off x="7725025" y="3832529"/>
          <a:ext cx="2364307" cy="10976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872">
                  <a:extLst>
                    <a:ext uri="{9D8B030D-6E8A-4147-A177-3AD203B41FA5}">
                      <a16:colId xmlns:a16="http://schemas.microsoft.com/office/drawing/2014/main" val="485956849"/>
                    </a:ext>
                  </a:extLst>
                </a:gridCol>
                <a:gridCol w="800872">
                  <a:extLst>
                    <a:ext uri="{9D8B030D-6E8A-4147-A177-3AD203B41FA5}">
                      <a16:colId xmlns:a16="http://schemas.microsoft.com/office/drawing/2014/main" val="2479692713"/>
                    </a:ext>
                  </a:extLst>
                </a:gridCol>
                <a:gridCol w="762563">
                  <a:extLst>
                    <a:ext uri="{9D8B030D-6E8A-4147-A177-3AD203B41FA5}">
                      <a16:colId xmlns:a16="http://schemas.microsoft.com/office/drawing/2014/main" val="3417803258"/>
                    </a:ext>
                  </a:extLst>
                </a:gridCol>
              </a:tblGrid>
              <a:tr h="287001">
                <a:tc gridSpan="3"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converted raw source </a:t>
                      </a:r>
                      <a:br>
                        <a:rPr lang="en-GB" sz="16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inventory table (AB03)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C56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converted raw source inventory table (ab03)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C5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E9C5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631956"/>
                  </a:ext>
                </a:extLst>
              </a:tr>
              <a:tr h="287001">
                <a:tc>
                  <a:txBody>
                    <a:bodyPr/>
                    <a:lstStyle/>
                    <a:p>
                      <a:pPr algn="ctr"/>
                      <a:r>
                        <a:rPr lang="fr-CA" sz="1400" dirty="0" err="1">
                          <a:solidFill>
                            <a:schemeClr val="tx1"/>
                          </a:solidFill>
                        </a:rPr>
                        <a:t>stand_id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sp1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usp1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775075"/>
                  </a:ext>
                </a:extLst>
              </a:tr>
              <a:tr h="287001"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211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6423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4B6E7328-AE26-4126-9E7D-DABCF269FE53}"/>
              </a:ext>
            </a:extLst>
          </p:cNvPr>
          <p:cNvSpPr/>
          <p:nvPr/>
        </p:nvSpPr>
        <p:spPr>
          <a:xfrm>
            <a:off x="443505" y="2356445"/>
            <a:ext cx="3564000" cy="896006"/>
          </a:xfrm>
          <a:prstGeom prst="roundRect">
            <a:avLst/>
          </a:prstGeom>
          <a:solidFill>
            <a:srgbClr val="83971D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000" dirty="0">
                <a:solidFill>
                  <a:schemeClr val="bg1"/>
                </a:solidFill>
              </a:rPr>
              <a:t>TT_Translate_AB03_CAS(</a:t>
            </a:r>
            <a:r>
              <a:rPr lang="fr-CA" sz="2000" dirty="0" err="1">
                <a:solidFill>
                  <a:schemeClr val="bg1"/>
                </a:solidFill>
              </a:rPr>
              <a:t>view</a:t>
            </a:r>
            <a:r>
              <a:rPr lang="fr-CA" sz="2000" dirty="0">
                <a:solidFill>
                  <a:schemeClr val="bg1"/>
                </a:solidFill>
              </a:rPr>
              <a:t>)</a:t>
            </a:r>
            <a:br>
              <a:rPr lang="fr-CA" sz="2000" dirty="0">
                <a:solidFill>
                  <a:schemeClr val="bg1"/>
                </a:solidFill>
              </a:rPr>
            </a:br>
            <a:r>
              <a:rPr lang="fr-CA" sz="1400" dirty="0">
                <a:solidFill>
                  <a:schemeClr val="bg1"/>
                </a:solidFill>
              </a:rPr>
              <a:t>…</a:t>
            </a:r>
            <a:br>
              <a:rPr lang="fr-CA" sz="2000" dirty="0">
                <a:solidFill>
                  <a:schemeClr val="bg1"/>
                </a:solidFill>
              </a:rPr>
            </a:br>
            <a:r>
              <a:rPr lang="fr-CA" sz="2000" dirty="0">
                <a:solidFill>
                  <a:schemeClr val="bg1"/>
                </a:solidFill>
              </a:rPr>
              <a:t>TT_Translate_AB03_GEO(</a:t>
            </a:r>
            <a:r>
              <a:rPr lang="fr-CA" sz="2000" dirty="0" err="1">
                <a:solidFill>
                  <a:schemeClr val="bg1"/>
                </a:solidFill>
              </a:rPr>
              <a:t>view</a:t>
            </a:r>
            <a:r>
              <a:rPr lang="fr-CA" sz="2000" dirty="0">
                <a:solidFill>
                  <a:schemeClr val="bg1"/>
                </a:solidFill>
              </a:rPr>
              <a:t>)</a:t>
            </a:r>
            <a:endParaRPr lang="en-GB" sz="2000" dirty="0">
              <a:solidFill>
                <a:schemeClr val="bg1"/>
              </a:solidFill>
            </a:endParaRPr>
          </a:p>
        </p:txBody>
      </p:sp>
      <p:cxnSp>
        <p:nvCxnSpPr>
          <p:cNvPr id="58" name="Connecteur droit avec flèche 57">
            <a:extLst>
              <a:ext uri="{FF2B5EF4-FFF2-40B4-BE49-F238E27FC236}">
                <a16:creationId xmlns:a16="http://schemas.microsoft.com/office/drawing/2014/main" id="{588E0B3D-2595-4A01-B637-AC57F6138A97}"/>
              </a:ext>
            </a:extLst>
          </p:cNvPr>
          <p:cNvCxnSpPr>
            <a:cxnSpLocks/>
          </p:cNvCxnSpPr>
          <p:nvPr/>
        </p:nvCxnSpPr>
        <p:spPr>
          <a:xfrm flipH="1" flipV="1">
            <a:off x="2356135" y="3252451"/>
            <a:ext cx="1569037" cy="461941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92148045-F1A5-41F9-ADB8-CD52E3D0D868}"/>
              </a:ext>
            </a:extLst>
          </p:cNvPr>
          <p:cNvSpPr txBox="1"/>
          <p:nvPr/>
        </p:nvSpPr>
        <p:spPr>
          <a:xfrm>
            <a:off x="443505" y="244341"/>
            <a:ext cx="3564000" cy="783698"/>
          </a:xfrm>
          <a:prstGeom prst="rect">
            <a:avLst/>
          </a:prstGeom>
          <a:solidFill>
            <a:srgbClr val="F3E0AB"/>
          </a:solidFill>
          <a:ln w="19050"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fr-CA" sz="2000" b="1" dirty="0"/>
              <a:t>INPUT TRANSLATION TABLES</a:t>
            </a:r>
          </a:p>
          <a:p>
            <a:pPr algn="ctr"/>
            <a:r>
              <a:rPr lang="fr-CA" sz="1400" dirty="0"/>
              <a:t>ab_avi01_cas, ab_avi01_dst, ab_avi01_eco, ab_avi01_lyr, ab_avi01_nfl, ab_avi01_geo</a:t>
            </a:r>
            <a:endParaRPr lang="en-GB" sz="1400" dirty="0"/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27AED0FC-905D-4795-863B-56D13777FB06}"/>
              </a:ext>
            </a:extLst>
          </p:cNvPr>
          <p:cNvSpPr/>
          <p:nvPr/>
        </p:nvSpPr>
        <p:spPr>
          <a:xfrm>
            <a:off x="443505" y="1342255"/>
            <a:ext cx="3564000" cy="627017"/>
          </a:xfrm>
          <a:prstGeom prst="roundRect">
            <a:avLst/>
          </a:prstGeom>
          <a:solidFill>
            <a:srgbClr val="83971D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000" dirty="0" err="1">
                <a:solidFill>
                  <a:schemeClr val="bg1"/>
                </a:solidFill>
              </a:rPr>
              <a:t>TT_Prepare</a:t>
            </a:r>
            <a:r>
              <a:rPr lang="fr-CA" sz="2000" dirty="0">
                <a:solidFill>
                  <a:schemeClr val="bg1"/>
                </a:solidFill>
              </a:rPr>
              <a:t>(</a:t>
            </a:r>
            <a:r>
              <a:rPr lang="fr-CA" sz="2000" dirty="0" err="1">
                <a:solidFill>
                  <a:schemeClr val="bg1"/>
                </a:solidFill>
              </a:rPr>
              <a:t>translation_table</a:t>
            </a:r>
            <a:r>
              <a:rPr lang="fr-CA" sz="2000" dirty="0">
                <a:solidFill>
                  <a:schemeClr val="bg1"/>
                </a:solidFill>
              </a:rPr>
              <a:t>)</a:t>
            </a:r>
            <a:endParaRPr lang="en-GB" sz="2000" dirty="0">
              <a:solidFill>
                <a:schemeClr val="bg1"/>
              </a:solidFill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518E24C7-7A3B-4CF5-B2DE-47077D77763A}"/>
              </a:ext>
            </a:extLst>
          </p:cNvPr>
          <p:cNvSpPr txBox="1"/>
          <p:nvPr/>
        </p:nvSpPr>
        <p:spPr>
          <a:xfrm>
            <a:off x="443504" y="3702076"/>
            <a:ext cx="11260815" cy="2826637"/>
          </a:xfrm>
          <a:prstGeom prst="rect">
            <a:avLst/>
          </a:prstGeom>
          <a:solidFill>
            <a:srgbClr val="F3E0AB"/>
          </a:solidFill>
        </p:spPr>
        <p:txBody>
          <a:bodyPr wrap="square" rtlCol="0">
            <a:noAutofit/>
          </a:bodyPr>
          <a:lstStyle/>
          <a:p>
            <a:r>
              <a:rPr lang="fr-CA" sz="2400" b="1" dirty="0"/>
              <a:t>                      INPUT INVENTORY DATA TABLES</a:t>
            </a:r>
            <a:endParaRPr lang="en-GB" sz="2400" b="1" dirty="0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68EA8242-6B6A-4EB3-90B2-B89A67E093C2}"/>
              </a:ext>
            </a:extLst>
          </p:cNvPr>
          <p:cNvSpPr txBox="1"/>
          <p:nvPr/>
        </p:nvSpPr>
        <p:spPr>
          <a:xfrm>
            <a:off x="4565826" y="2382884"/>
            <a:ext cx="3402326" cy="8749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fr-CA" sz="2000" b="1" dirty="0"/>
              <a:t>OUTPUT TRANSLATED TABLES</a:t>
            </a:r>
          </a:p>
          <a:p>
            <a:pPr algn="ctr"/>
            <a:r>
              <a:rPr lang="fr-CA" sz="1600" dirty="0" err="1"/>
              <a:t>cas_all</a:t>
            </a:r>
            <a:r>
              <a:rPr lang="fr-CA" sz="1600" dirty="0"/>
              <a:t>, </a:t>
            </a:r>
            <a:r>
              <a:rPr lang="fr-CA" sz="1600" dirty="0" err="1"/>
              <a:t>dst_all</a:t>
            </a:r>
            <a:r>
              <a:rPr lang="fr-CA" sz="1600" dirty="0"/>
              <a:t>, </a:t>
            </a:r>
            <a:r>
              <a:rPr lang="fr-CA" sz="1600" dirty="0" err="1"/>
              <a:t>eco_all</a:t>
            </a:r>
            <a:r>
              <a:rPr lang="fr-CA" sz="1600" dirty="0"/>
              <a:t>, </a:t>
            </a:r>
            <a:br>
              <a:rPr lang="fr-CA" sz="1600" dirty="0"/>
            </a:br>
            <a:r>
              <a:rPr lang="fr-CA" sz="1600" dirty="0" err="1"/>
              <a:t>lyr_all</a:t>
            </a:r>
            <a:r>
              <a:rPr lang="fr-CA" sz="1600" dirty="0"/>
              <a:t>, </a:t>
            </a:r>
            <a:r>
              <a:rPr lang="fr-CA" sz="1600" dirty="0" err="1"/>
              <a:t>nfl_all</a:t>
            </a:r>
            <a:r>
              <a:rPr lang="fr-CA" sz="1600" dirty="0"/>
              <a:t>, </a:t>
            </a:r>
            <a:r>
              <a:rPr lang="fr-CA" sz="1600" dirty="0" err="1"/>
              <a:t>geo_all</a:t>
            </a:r>
            <a:endParaRPr lang="en-GB" sz="1600" dirty="0"/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7AA2E1AE-F490-4227-9B54-2BC2538BD385}"/>
              </a:ext>
            </a:extLst>
          </p:cNvPr>
          <p:cNvCxnSpPr>
            <a:cxnSpLocks/>
            <a:stCxn id="29" idx="2"/>
            <a:endCxn id="34" idx="0"/>
          </p:cNvCxnSpPr>
          <p:nvPr/>
        </p:nvCxnSpPr>
        <p:spPr>
          <a:xfrm>
            <a:off x="2225505" y="1028039"/>
            <a:ext cx="0" cy="314216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FEED041D-072D-45C9-8565-3D5E08191F1A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>
            <a:off x="2225505" y="1969272"/>
            <a:ext cx="0" cy="387173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avec flèche 61">
            <a:extLst>
              <a:ext uri="{FF2B5EF4-FFF2-40B4-BE49-F238E27FC236}">
                <a16:creationId xmlns:a16="http://schemas.microsoft.com/office/drawing/2014/main" id="{8CC8ACF5-1EC6-4634-8980-2725FF212CE8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>
          <a:xfrm>
            <a:off x="4007505" y="2804448"/>
            <a:ext cx="558321" cy="15897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eur droit avec flèche 82">
            <a:extLst>
              <a:ext uri="{FF2B5EF4-FFF2-40B4-BE49-F238E27FC236}">
                <a16:creationId xmlns:a16="http://schemas.microsoft.com/office/drawing/2014/main" id="{1F813C53-B34B-4270-A06C-DA2D13EEAC7A}"/>
              </a:ext>
            </a:extLst>
          </p:cNvPr>
          <p:cNvCxnSpPr>
            <a:cxnSpLocks/>
            <a:stCxn id="36" idx="0"/>
            <a:endCxn id="85" idx="2"/>
          </p:cNvCxnSpPr>
          <p:nvPr/>
        </p:nvCxnSpPr>
        <p:spPr>
          <a:xfrm flipV="1">
            <a:off x="6266989" y="2028106"/>
            <a:ext cx="0" cy="354778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 : coins arrondis 83">
            <a:extLst>
              <a:ext uri="{FF2B5EF4-FFF2-40B4-BE49-F238E27FC236}">
                <a16:creationId xmlns:a16="http://schemas.microsoft.com/office/drawing/2014/main" id="{19AA910A-CF5A-49E1-9C54-B74B80DA312A}"/>
              </a:ext>
            </a:extLst>
          </p:cNvPr>
          <p:cNvSpPr/>
          <p:nvPr/>
        </p:nvSpPr>
        <p:spPr>
          <a:xfrm>
            <a:off x="4394519" y="329287"/>
            <a:ext cx="3733635" cy="627017"/>
          </a:xfrm>
          <a:prstGeom prst="roundRect">
            <a:avLst/>
          </a:prstGeom>
          <a:solidFill>
            <a:srgbClr val="83971D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dirty="0" err="1">
                <a:solidFill>
                  <a:schemeClr val="bg1"/>
                </a:solidFill>
              </a:rPr>
              <a:t>TT_ProduceInvGeoHistory</a:t>
            </a:r>
            <a:r>
              <a:rPr lang="fr-CA" sz="2400" dirty="0">
                <a:solidFill>
                  <a:schemeClr val="bg1"/>
                </a:solidFill>
              </a:rPr>
              <a:t>()</a:t>
            </a:r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9D3FD4DA-0D04-44DE-8E60-7DFA3F913499}"/>
              </a:ext>
            </a:extLst>
          </p:cNvPr>
          <p:cNvSpPr txBox="1"/>
          <p:nvPr/>
        </p:nvSpPr>
        <p:spPr>
          <a:xfrm>
            <a:off x="4565826" y="1244408"/>
            <a:ext cx="3402326" cy="78369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fr-CA" sz="2000" b="1" dirty="0"/>
              <a:t>OUTPUT FLAT TABLE</a:t>
            </a:r>
          </a:p>
          <a:p>
            <a:pPr algn="ctr"/>
            <a:r>
              <a:rPr lang="en-GB" sz="1400" dirty="0" err="1"/>
              <a:t>cas_flat_all_layers_same_row</a:t>
            </a:r>
            <a:endParaRPr lang="en-GB" sz="1400" dirty="0"/>
          </a:p>
        </p:txBody>
      </p:sp>
      <p:sp>
        <p:nvSpPr>
          <p:cNvPr id="100" name="Ellipse 99">
            <a:extLst>
              <a:ext uri="{FF2B5EF4-FFF2-40B4-BE49-F238E27FC236}">
                <a16:creationId xmlns:a16="http://schemas.microsoft.com/office/drawing/2014/main" id="{FBB50B8A-231F-4103-A471-9856B1C423B5}"/>
              </a:ext>
            </a:extLst>
          </p:cNvPr>
          <p:cNvSpPr/>
          <p:nvPr/>
        </p:nvSpPr>
        <p:spPr>
          <a:xfrm>
            <a:off x="33932" y="1370549"/>
            <a:ext cx="558321" cy="55832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800" b="1" dirty="0"/>
              <a:t>2</a:t>
            </a:r>
            <a:endParaRPr lang="en-GB" sz="2800" b="1" dirty="0"/>
          </a:p>
        </p:txBody>
      </p:sp>
      <p:sp>
        <p:nvSpPr>
          <p:cNvPr id="103" name="Ellipse 102">
            <a:extLst>
              <a:ext uri="{FF2B5EF4-FFF2-40B4-BE49-F238E27FC236}">
                <a16:creationId xmlns:a16="http://schemas.microsoft.com/office/drawing/2014/main" id="{2E2C0892-9CB5-4FCC-8970-C59A70249581}"/>
              </a:ext>
            </a:extLst>
          </p:cNvPr>
          <p:cNvSpPr/>
          <p:nvPr/>
        </p:nvSpPr>
        <p:spPr>
          <a:xfrm>
            <a:off x="3794542" y="2530843"/>
            <a:ext cx="558321" cy="55832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800" b="1" dirty="0"/>
              <a:t>3</a:t>
            </a:r>
            <a:endParaRPr lang="en-GB" sz="2800" b="1" dirty="0"/>
          </a:p>
        </p:txBody>
      </p:sp>
      <p:sp>
        <p:nvSpPr>
          <p:cNvPr id="104" name="Ellipse 103">
            <a:extLst>
              <a:ext uri="{FF2B5EF4-FFF2-40B4-BE49-F238E27FC236}">
                <a16:creationId xmlns:a16="http://schemas.microsoft.com/office/drawing/2014/main" id="{5C70298B-5BFC-4D37-839D-F007BAB8D9CA}"/>
              </a:ext>
            </a:extLst>
          </p:cNvPr>
          <p:cNvSpPr/>
          <p:nvPr/>
        </p:nvSpPr>
        <p:spPr>
          <a:xfrm>
            <a:off x="5594379" y="1944287"/>
            <a:ext cx="558321" cy="55832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800" b="1" dirty="0"/>
              <a:t>4</a:t>
            </a:r>
            <a:endParaRPr lang="en-GB" sz="2800" b="1" dirty="0"/>
          </a:p>
        </p:txBody>
      </p:sp>
      <p:sp>
        <p:nvSpPr>
          <p:cNvPr id="110" name="ZoneTexte 109">
            <a:extLst>
              <a:ext uri="{FF2B5EF4-FFF2-40B4-BE49-F238E27FC236}">
                <a16:creationId xmlns:a16="http://schemas.microsoft.com/office/drawing/2014/main" id="{5707500A-F67A-4FD0-9DD3-C3889083A698}"/>
              </a:ext>
            </a:extLst>
          </p:cNvPr>
          <p:cNvSpPr txBox="1"/>
          <p:nvPr/>
        </p:nvSpPr>
        <p:spPr>
          <a:xfrm>
            <a:off x="8811958" y="329286"/>
            <a:ext cx="2681539" cy="62701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fr-CA" sz="1600" b="1" dirty="0"/>
              <a:t>OUTPUT</a:t>
            </a:r>
            <a:br>
              <a:rPr lang="fr-CA" sz="1600" b="1" dirty="0"/>
            </a:br>
            <a:r>
              <a:rPr lang="fr-CA" sz="1600" b="1" dirty="0"/>
              <a:t> GEOHISTORY TABLE</a:t>
            </a:r>
            <a:endParaRPr lang="en-GB" sz="1600" b="1" dirty="0"/>
          </a:p>
        </p:txBody>
      </p:sp>
      <p:cxnSp>
        <p:nvCxnSpPr>
          <p:cNvPr id="115" name="Connecteur droit avec flèche 114">
            <a:extLst>
              <a:ext uri="{FF2B5EF4-FFF2-40B4-BE49-F238E27FC236}">
                <a16:creationId xmlns:a16="http://schemas.microsoft.com/office/drawing/2014/main" id="{A668FD2A-5FAB-4942-9335-A0764BB762DC}"/>
              </a:ext>
            </a:extLst>
          </p:cNvPr>
          <p:cNvCxnSpPr>
            <a:cxnSpLocks/>
            <a:stCxn id="85" idx="0"/>
            <a:endCxn id="84" idx="2"/>
          </p:cNvCxnSpPr>
          <p:nvPr/>
        </p:nvCxnSpPr>
        <p:spPr>
          <a:xfrm flipH="1" flipV="1">
            <a:off x="6261337" y="956304"/>
            <a:ext cx="5652" cy="288104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eur droit avec flèche 120">
            <a:extLst>
              <a:ext uri="{FF2B5EF4-FFF2-40B4-BE49-F238E27FC236}">
                <a16:creationId xmlns:a16="http://schemas.microsoft.com/office/drawing/2014/main" id="{0145ABF2-42BA-4FF8-9794-CE012DC6D327}"/>
              </a:ext>
            </a:extLst>
          </p:cNvPr>
          <p:cNvCxnSpPr>
            <a:cxnSpLocks/>
            <a:stCxn id="84" idx="3"/>
            <a:endCxn id="110" idx="1"/>
          </p:cNvCxnSpPr>
          <p:nvPr/>
        </p:nvCxnSpPr>
        <p:spPr>
          <a:xfrm flipV="1">
            <a:off x="8128154" y="642794"/>
            <a:ext cx="683804" cy="2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ctangle : coins arrondis 123">
            <a:extLst>
              <a:ext uri="{FF2B5EF4-FFF2-40B4-BE49-F238E27FC236}">
                <a16:creationId xmlns:a16="http://schemas.microsoft.com/office/drawing/2014/main" id="{362EC4B2-876B-4DB9-B2DD-5451257C0990}"/>
              </a:ext>
            </a:extLst>
          </p:cNvPr>
          <p:cNvSpPr/>
          <p:nvPr/>
        </p:nvSpPr>
        <p:spPr>
          <a:xfrm>
            <a:off x="8232846" y="2502686"/>
            <a:ext cx="3471473" cy="627017"/>
          </a:xfrm>
          <a:prstGeom prst="roundRect">
            <a:avLst/>
          </a:prstGeom>
          <a:solidFill>
            <a:srgbClr val="83971D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000" dirty="0" err="1">
                <a:solidFill>
                  <a:schemeClr val="bg1"/>
                </a:solidFill>
              </a:rPr>
              <a:t>TT_ProduceDerivedCoverage</a:t>
            </a:r>
            <a:r>
              <a:rPr lang="fr-CA" sz="2000" dirty="0">
                <a:solidFill>
                  <a:schemeClr val="bg1"/>
                </a:solidFill>
              </a:rPr>
              <a:t>()</a:t>
            </a:r>
            <a:endParaRPr lang="en-GB" sz="2000" dirty="0">
              <a:solidFill>
                <a:schemeClr val="bg1"/>
              </a:solidFill>
            </a:endParaRP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2940A9D3-7C80-4680-872F-592ADB3DBF97}"/>
              </a:ext>
            </a:extLst>
          </p:cNvPr>
          <p:cNvSpPr txBox="1"/>
          <p:nvPr/>
        </p:nvSpPr>
        <p:spPr>
          <a:xfrm>
            <a:off x="8811958" y="1255445"/>
            <a:ext cx="2681539" cy="94382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fr-CA" sz="1600" b="1" dirty="0"/>
              <a:t>OUTPUT COVERAGE TABLES </a:t>
            </a:r>
            <a:r>
              <a:rPr lang="fr-CA" sz="1600" dirty="0" err="1"/>
              <a:t>detailed</a:t>
            </a:r>
            <a:r>
              <a:rPr lang="fr-CA" sz="1600" dirty="0"/>
              <a:t>, </a:t>
            </a:r>
            <a:r>
              <a:rPr lang="fr-CA" sz="1600" dirty="0" err="1"/>
              <a:t>noholes</a:t>
            </a:r>
            <a:r>
              <a:rPr lang="fr-CA" sz="1600" dirty="0"/>
              <a:t>, </a:t>
            </a:r>
            <a:r>
              <a:rPr lang="fr-CA" sz="1600" dirty="0" err="1"/>
              <a:t>noislands</a:t>
            </a:r>
            <a:r>
              <a:rPr lang="fr-CA" sz="1600" dirty="0"/>
              <a:t>, </a:t>
            </a:r>
            <a:r>
              <a:rPr lang="fr-CA" sz="1600" dirty="0" err="1"/>
              <a:t>simplified</a:t>
            </a:r>
            <a:r>
              <a:rPr lang="fr-CA" sz="1600" dirty="0"/>
              <a:t> and </a:t>
            </a:r>
            <a:r>
              <a:rPr lang="fr-CA" sz="1600" dirty="0" err="1"/>
              <a:t>smoothed</a:t>
            </a:r>
            <a:endParaRPr lang="en-GB" sz="1600" dirty="0"/>
          </a:p>
        </p:txBody>
      </p:sp>
      <p:sp>
        <p:nvSpPr>
          <p:cNvPr id="98" name="Ellipse 97">
            <a:extLst>
              <a:ext uri="{FF2B5EF4-FFF2-40B4-BE49-F238E27FC236}">
                <a16:creationId xmlns:a16="http://schemas.microsoft.com/office/drawing/2014/main" id="{7EC45BBD-B4B7-43F0-BA7E-C8DF7E80FE36}"/>
              </a:ext>
            </a:extLst>
          </p:cNvPr>
          <p:cNvSpPr/>
          <p:nvPr/>
        </p:nvSpPr>
        <p:spPr>
          <a:xfrm>
            <a:off x="8002728" y="366752"/>
            <a:ext cx="558321" cy="55832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800" b="1" dirty="0"/>
              <a:t>5</a:t>
            </a:r>
            <a:endParaRPr lang="en-GB" sz="2800" b="1" dirty="0"/>
          </a:p>
        </p:txBody>
      </p:sp>
      <p:cxnSp>
        <p:nvCxnSpPr>
          <p:cNvPr id="132" name="Connecteur droit avec flèche 131">
            <a:extLst>
              <a:ext uri="{FF2B5EF4-FFF2-40B4-BE49-F238E27FC236}">
                <a16:creationId xmlns:a16="http://schemas.microsoft.com/office/drawing/2014/main" id="{FE766572-7744-41C2-89E8-7E86B7E5173D}"/>
              </a:ext>
            </a:extLst>
          </p:cNvPr>
          <p:cNvCxnSpPr>
            <a:cxnSpLocks/>
            <a:stCxn id="36" idx="3"/>
            <a:endCxn id="124" idx="1"/>
          </p:cNvCxnSpPr>
          <p:nvPr/>
        </p:nvCxnSpPr>
        <p:spPr>
          <a:xfrm flipV="1">
            <a:off x="7968152" y="2816195"/>
            <a:ext cx="264694" cy="4150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eur droit avec flèche 134">
            <a:extLst>
              <a:ext uri="{FF2B5EF4-FFF2-40B4-BE49-F238E27FC236}">
                <a16:creationId xmlns:a16="http://schemas.microsoft.com/office/drawing/2014/main" id="{962D54E4-445F-44C7-98DB-73314A7B48AE}"/>
              </a:ext>
            </a:extLst>
          </p:cNvPr>
          <p:cNvCxnSpPr>
            <a:cxnSpLocks/>
            <a:stCxn id="124" idx="0"/>
            <a:endCxn id="125" idx="2"/>
          </p:cNvCxnSpPr>
          <p:nvPr/>
        </p:nvCxnSpPr>
        <p:spPr>
          <a:xfrm flipV="1">
            <a:off x="9968583" y="2199272"/>
            <a:ext cx="184145" cy="303414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Ellipse 137">
            <a:extLst>
              <a:ext uri="{FF2B5EF4-FFF2-40B4-BE49-F238E27FC236}">
                <a16:creationId xmlns:a16="http://schemas.microsoft.com/office/drawing/2014/main" id="{9438A552-8A99-4397-AF98-C146E426D80C}"/>
              </a:ext>
            </a:extLst>
          </p:cNvPr>
          <p:cNvSpPr/>
          <p:nvPr/>
        </p:nvSpPr>
        <p:spPr>
          <a:xfrm>
            <a:off x="8540309" y="2083978"/>
            <a:ext cx="558321" cy="55832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800" b="1" dirty="0"/>
              <a:t>6</a:t>
            </a:r>
            <a:endParaRPr lang="en-GB" sz="2800" b="1" dirty="0"/>
          </a:p>
        </p:txBody>
      </p: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A3D14383-D910-496A-A171-C0F53BD94BF8}"/>
              </a:ext>
            </a:extLst>
          </p:cNvPr>
          <p:cNvCxnSpPr>
            <a:cxnSpLocks/>
            <a:stCxn id="7" idx="0"/>
            <a:endCxn id="38" idx="2"/>
          </p:cNvCxnSpPr>
          <p:nvPr/>
        </p:nvCxnSpPr>
        <p:spPr>
          <a:xfrm flipH="1" flipV="1">
            <a:off x="2239996" y="5200031"/>
            <a:ext cx="1486361" cy="361936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avec flèche 55">
            <a:extLst>
              <a:ext uri="{FF2B5EF4-FFF2-40B4-BE49-F238E27FC236}">
                <a16:creationId xmlns:a16="http://schemas.microsoft.com/office/drawing/2014/main" id="{80BC5CAA-E2ED-4886-9A71-905CB300F5AB}"/>
              </a:ext>
            </a:extLst>
          </p:cNvPr>
          <p:cNvCxnSpPr>
            <a:cxnSpLocks/>
            <a:stCxn id="39" idx="2"/>
            <a:endCxn id="7" idx="0"/>
          </p:cNvCxnSpPr>
          <p:nvPr/>
        </p:nvCxnSpPr>
        <p:spPr>
          <a:xfrm flipH="1">
            <a:off x="3726357" y="5200031"/>
            <a:ext cx="1365053" cy="361936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E9070072-1936-400B-BA64-017399636A46}"/>
              </a:ext>
            </a:extLst>
          </p:cNvPr>
          <p:cNvSpPr/>
          <p:nvPr/>
        </p:nvSpPr>
        <p:spPr>
          <a:xfrm>
            <a:off x="1819441" y="5561967"/>
            <a:ext cx="3813832" cy="633180"/>
          </a:xfrm>
          <a:prstGeom prst="roundRect">
            <a:avLst/>
          </a:prstGeom>
          <a:solidFill>
            <a:srgbClr val="83971D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dirty="0" err="1">
                <a:solidFill>
                  <a:schemeClr val="bg1"/>
                </a:solidFill>
              </a:rPr>
              <a:t>TT_CreateMappingview</a:t>
            </a:r>
            <a:r>
              <a:rPr lang="fr-CA" sz="2400" dirty="0">
                <a:solidFill>
                  <a:schemeClr val="bg1"/>
                </a:solidFill>
              </a:rPr>
              <a:t>()</a:t>
            </a:r>
            <a:endParaRPr lang="en-GB" sz="2400" dirty="0">
              <a:solidFill>
                <a:schemeClr val="bg1"/>
              </a:solidFill>
            </a:endParaRPr>
          </a:p>
        </p:txBody>
      </p:sp>
      <p:cxnSp>
        <p:nvCxnSpPr>
          <p:cNvPr id="44" name="Connecteur droit avec flèche 43">
            <a:extLst>
              <a:ext uri="{FF2B5EF4-FFF2-40B4-BE49-F238E27FC236}">
                <a16:creationId xmlns:a16="http://schemas.microsoft.com/office/drawing/2014/main" id="{D8251F2D-B8AC-4441-AF62-FAB45783D64D}"/>
              </a:ext>
            </a:extLst>
          </p:cNvPr>
          <p:cNvCxnSpPr>
            <a:cxnSpLocks/>
            <a:stCxn id="82" idx="1"/>
          </p:cNvCxnSpPr>
          <p:nvPr/>
        </p:nvCxnSpPr>
        <p:spPr>
          <a:xfrm flipH="1">
            <a:off x="5590670" y="4381370"/>
            <a:ext cx="2134355" cy="1277154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Ellipse 98">
            <a:extLst>
              <a:ext uri="{FF2B5EF4-FFF2-40B4-BE49-F238E27FC236}">
                <a16:creationId xmlns:a16="http://schemas.microsoft.com/office/drawing/2014/main" id="{01242566-11EE-463B-B967-6FC3FB33A098}"/>
              </a:ext>
            </a:extLst>
          </p:cNvPr>
          <p:cNvSpPr/>
          <p:nvPr/>
        </p:nvSpPr>
        <p:spPr>
          <a:xfrm>
            <a:off x="871933" y="5599397"/>
            <a:ext cx="558321" cy="55832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800" b="1" dirty="0"/>
              <a:t>1</a:t>
            </a:r>
            <a:endParaRPr lang="en-GB" sz="2800" b="1" dirty="0"/>
          </a:p>
        </p:txBody>
      </p:sp>
      <p:graphicFrame>
        <p:nvGraphicFramePr>
          <p:cNvPr id="64" name="Tableau 2">
            <a:extLst>
              <a:ext uri="{FF2B5EF4-FFF2-40B4-BE49-F238E27FC236}">
                <a16:creationId xmlns:a16="http://schemas.microsoft.com/office/drawing/2014/main" id="{7B3FC02C-9E25-48A3-B50C-DA3641287A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889609"/>
              </p:ext>
            </p:extLst>
          </p:nvPr>
        </p:nvGraphicFramePr>
        <p:xfrm>
          <a:off x="7003876" y="5092444"/>
          <a:ext cx="4324609" cy="12958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327">
                  <a:extLst>
                    <a:ext uri="{9D8B030D-6E8A-4147-A177-3AD203B41FA5}">
                      <a16:colId xmlns:a16="http://schemas.microsoft.com/office/drawing/2014/main" val="2479692713"/>
                    </a:ext>
                  </a:extLst>
                </a:gridCol>
                <a:gridCol w="492257">
                  <a:extLst>
                    <a:ext uri="{9D8B030D-6E8A-4147-A177-3AD203B41FA5}">
                      <a16:colId xmlns:a16="http://schemas.microsoft.com/office/drawing/2014/main" val="3417803258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2373036711"/>
                    </a:ext>
                  </a:extLst>
                </a:gridCol>
                <a:gridCol w="820779">
                  <a:extLst>
                    <a:ext uri="{9D8B030D-6E8A-4147-A177-3AD203B41FA5}">
                      <a16:colId xmlns:a16="http://schemas.microsoft.com/office/drawing/2014/main" val="1452312875"/>
                    </a:ext>
                  </a:extLst>
                </a:gridCol>
                <a:gridCol w="409246">
                  <a:extLst>
                    <a:ext uri="{9D8B030D-6E8A-4147-A177-3AD203B41FA5}">
                      <a16:colId xmlns:a16="http://schemas.microsoft.com/office/drawing/2014/main" val="1599457183"/>
                    </a:ext>
                  </a:extLst>
                </a:gridCol>
              </a:tblGrid>
              <a:tr h="207837">
                <a:tc gridSpan="5">
                  <a:txBody>
                    <a:bodyPr/>
                    <a:lstStyle/>
                    <a:p>
                      <a:pPr algn="ctr"/>
                      <a:r>
                        <a:rPr lang="fr-CA" sz="1600" dirty="0" err="1">
                          <a:solidFill>
                            <a:schemeClr val="tx1"/>
                          </a:solidFill>
                        </a:rPr>
                        <a:t>layer_metadata</a:t>
                      </a:r>
                      <a:r>
                        <a:rPr lang="fr-CA" sz="1600" dirty="0">
                          <a:solidFill>
                            <a:schemeClr val="tx1"/>
                          </a:solidFill>
                        </a:rPr>
                        <a:t> table</a:t>
                      </a:r>
                      <a:endParaRPr lang="en-GB" sz="16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C5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E9C56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C56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C56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6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C5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631956"/>
                  </a:ext>
                </a:extLst>
              </a:tr>
              <a:tr h="151457"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INVENTORY_ID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C5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LAYER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C5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CASFRI_TABLE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C5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SPECIES_1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C5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C5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775075"/>
                  </a:ext>
                </a:extLst>
              </a:tr>
              <a:tr h="213247"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AB_AVI01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species_1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211516"/>
                  </a:ext>
                </a:extLst>
              </a:tr>
              <a:tr h="135337"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AB03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</a:rPr>
                        <a:t>CAS ECO DST LYR GEO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sp1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331112"/>
                  </a:ext>
                </a:extLst>
              </a:tr>
              <a:tr h="267923"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AB03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LYR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usp1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923161"/>
                  </a:ext>
                </a:extLst>
              </a:tr>
            </a:tbl>
          </a:graphicData>
        </a:graphic>
      </p:graphicFrame>
      <p:cxnSp>
        <p:nvCxnSpPr>
          <p:cNvPr id="66" name="Connecteur droit avec flèche 65">
            <a:extLst>
              <a:ext uri="{FF2B5EF4-FFF2-40B4-BE49-F238E27FC236}">
                <a16:creationId xmlns:a16="http://schemas.microsoft.com/office/drawing/2014/main" id="{B15639DB-385C-4915-9D54-2904DD5665F6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5633273" y="5854991"/>
            <a:ext cx="1375937" cy="23566"/>
          </a:xfrm>
          <a:prstGeom prst="straightConnector1">
            <a:avLst/>
          </a:prstGeom>
          <a:ln w="57150">
            <a:solidFill>
              <a:schemeClr val="bg2">
                <a:lumMod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2" name="Tableau 2">
            <a:extLst>
              <a:ext uri="{FF2B5EF4-FFF2-40B4-BE49-F238E27FC236}">
                <a16:creationId xmlns:a16="http://schemas.microsoft.com/office/drawing/2014/main" id="{D8AC698D-7EFE-4310-A603-753F02F1D5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273875"/>
              </p:ext>
            </p:extLst>
          </p:nvPr>
        </p:nvGraphicFramePr>
        <p:xfrm>
          <a:off x="7725025" y="3832529"/>
          <a:ext cx="2364307" cy="10976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872">
                  <a:extLst>
                    <a:ext uri="{9D8B030D-6E8A-4147-A177-3AD203B41FA5}">
                      <a16:colId xmlns:a16="http://schemas.microsoft.com/office/drawing/2014/main" val="485956849"/>
                    </a:ext>
                  </a:extLst>
                </a:gridCol>
                <a:gridCol w="800872">
                  <a:extLst>
                    <a:ext uri="{9D8B030D-6E8A-4147-A177-3AD203B41FA5}">
                      <a16:colId xmlns:a16="http://schemas.microsoft.com/office/drawing/2014/main" val="2479692713"/>
                    </a:ext>
                  </a:extLst>
                </a:gridCol>
                <a:gridCol w="762563">
                  <a:extLst>
                    <a:ext uri="{9D8B030D-6E8A-4147-A177-3AD203B41FA5}">
                      <a16:colId xmlns:a16="http://schemas.microsoft.com/office/drawing/2014/main" val="3417803258"/>
                    </a:ext>
                  </a:extLst>
                </a:gridCol>
              </a:tblGrid>
              <a:tr h="287001">
                <a:tc gridSpan="3"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Converted raw source </a:t>
                      </a:r>
                      <a:br>
                        <a:rPr lang="en-GB" sz="16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inventory table (AB03)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C56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converted raw source inventory table (ab03)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C5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E9C5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631956"/>
                  </a:ext>
                </a:extLst>
              </a:tr>
              <a:tr h="287001">
                <a:tc>
                  <a:txBody>
                    <a:bodyPr/>
                    <a:lstStyle/>
                    <a:p>
                      <a:pPr algn="ctr"/>
                      <a:r>
                        <a:rPr lang="fr-CA" sz="1400" u="none" dirty="0">
                          <a:solidFill>
                            <a:schemeClr val="tx1"/>
                          </a:solidFill>
                        </a:rPr>
                        <a:t>STAND_ID</a:t>
                      </a:r>
                      <a:endParaRPr lang="en-GB" sz="1400" u="none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C5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SP1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C5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USP1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C5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775075"/>
                  </a:ext>
                </a:extLst>
              </a:tr>
              <a:tr h="287001"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211516"/>
                  </a:ext>
                </a:extLst>
              </a:tr>
            </a:tbl>
          </a:graphicData>
        </a:graphic>
      </p:graphicFrame>
      <p:graphicFrame>
        <p:nvGraphicFramePr>
          <p:cNvPr id="38" name="Tableau 2">
            <a:extLst>
              <a:ext uri="{FF2B5EF4-FFF2-40B4-BE49-F238E27FC236}">
                <a16:creationId xmlns:a16="http://schemas.microsoft.com/office/drawing/2014/main" id="{B05AFA32-15A8-4536-92AA-D2F1FDD12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5892883"/>
              </p:ext>
            </p:extLst>
          </p:nvPr>
        </p:nvGraphicFramePr>
        <p:xfrm>
          <a:off x="1141996" y="4339028"/>
          <a:ext cx="2196000" cy="8610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8000">
                  <a:extLst>
                    <a:ext uri="{9D8B030D-6E8A-4147-A177-3AD203B41FA5}">
                      <a16:colId xmlns:a16="http://schemas.microsoft.com/office/drawing/2014/main" val="48595684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47969271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417803258"/>
                    </a:ext>
                  </a:extLst>
                </a:gridCol>
              </a:tblGrid>
              <a:tr h="287001">
                <a:tc gridSpan="3"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VIEW for LYR layer 1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C56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converted raw source inventory table (ab03)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C5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E9C5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631956"/>
                  </a:ext>
                </a:extLst>
              </a:tr>
              <a:tr h="287001">
                <a:tc>
                  <a:txBody>
                    <a:bodyPr/>
                    <a:lstStyle/>
                    <a:p>
                      <a:pPr algn="ctr"/>
                      <a:r>
                        <a:rPr lang="fr-CA" sz="1400" u="none" dirty="0">
                          <a:solidFill>
                            <a:schemeClr val="tx1"/>
                          </a:solidFill>
                        </a:rPr>
                        <a:t>STAND_ID</a:t>
                      </a:r>
                      <a:endParaRPr lang="en-GB" sz="1400" u="none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C5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SPECIES_1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C5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C5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775075"/>
                  </a:ext>
                </a:extLst>
              </a:tr>
              <a:tr h="287001"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200" dirty="0" err="1">
                          <a:solidFill>
                            <a:schemeClr val="tx1"/>
                          </a:solidFill>
                        </a:rPr>
                        <a:t>mapped</a:t>
                      </a:r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 to sp1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211516"/>
                  </a:ext>
                </a:extLst>
              </a:tr>
            </a:tbl>
          </a:graphicData>
        </a:graphic>
      </p:graphicFrame>
      <p:graphicFrame>
        <p:nvGraphicFramePr>
          <p:cNvPr id="39" name="Tableau 2">
            <a:extLst>
              <a:ext uri="{FF2B5EF4-FFF2-40B4-BE49-F238E27FC236}">
                <a16:creationId xmlns:a16="http://schemas.microsoft.com/office/drawing/2014/main" id="{11034295-9C4C-4922-B177-9CDD7B7BA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292940"/>
              </p:ext>
            </p:extLst>
          </p:nvPr>
        </p:nvGraphicFramePr>
        <p:xfrm>
          <a:off x="3957410" y="4339028"/>
          <a:ext cx="2268000" cy="8610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485956849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479692713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417803258"/>
                    </a:ext>
                  </a:extLst>
                </a:gridCol>
              </a:tblGrid>
              <a:tr h="287001">
                <a:tc gridSpan="3"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VIEW for LYR layer 2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C56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converted raw source inventory table (ab03)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C5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E9C5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631956"/>
                  </a:ext>
                </a:extLst>
              </a:tr>
              <a:tr h="287001">
                <a:tc>
                  <a:txBody>
                    <a:bodyPr/>
                    <a:lstStyle/>
                    <a:p>
                      <a:pPr algn="ctr"/>
                      <a:r>
                        <a:rPr lang="fr-CA" sz="1400" u="none" dirty="0">
                          <a:solidFill>
                            <a:schemeClr val="tx1"/>
                          </a:solidFill>
                        </a:rPr>
                        <a:t>STAND_ID</a:t>
                      </a:r>
                      <a:endParaRPr lang="en-GB" sz="1400" u="none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C5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SPECIES_1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C5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C5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775075"/>
                  </a:ext>
                </a:extLst>
              </a:tr>
              <a:tr h="287001"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200" dirty="0" err="1">
                          <a:solidFill>
                            <a:schemeClr val="tx1"/>
                          </a:solidFill>
                        </a:rPr>
                        <a:t>mapped</a:t>
                      </a:r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 to usp1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E0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211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784351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1254</TotalTime>
  <Words>1132</Words>
  <Application>Microsoft Office PowerPoint</Application>
  <PresentationFormat>Grand écran</PresentationFormat>
  <Paragraphs>250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Pierre Racine</dc:creator>
  <cp:lastModifiedBy>Pierre Racine</cp:lastModifiedBy>
  <cp:revision>39</cp:revision>
  <dcterms:created xsi:type="dcterms:W3CDTF">2026-02-19T18:08:21Z</dcterms:created>
  <dcterms:modified xsi:type="dcterms:W3CDTF">2026-02-20T20:38:48Z</dcterms:modified>
</cp:coreProperties>
</file>